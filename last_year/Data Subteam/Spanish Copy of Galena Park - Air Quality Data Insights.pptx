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Source Serif 4 SemiBold"/>
      <p:regular r:id="rId24"/>
      <p:bold r:id="rId25"/>
      <p:italic r:id="rId26"/>
      <p:boldItalic r:id="rId27"/>
    </p:embeddedFont>
    <p:embeddedFont>
      <p:font typeface="Source Serif 4"/>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SourceSerif4SemiBold-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urceSerif4SemiBold-italic.fntdata"/><Relationship Id="rId25" Type="http://schemas.openxmlformats.org/officeDocument/2006/relationships/font" Target="fonts/SourceSerif4SemiBold-bold.fntdata"/><Relationship Id="rId28" Type="http://schemas.openxmlformats.org/officeDocument/2006/relationships/font" Target="fonts/SourceSerif4-regular.fntdata"/><Relationship Id="rId27" Type="http://schemas.openxmlformats.org/officeDocument/2006/relationships/font" Target="fonts/SourceSerif4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ourceSerif4-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urceSerif4-boldItalic.fntdata"/><Relationship Id="rId30" Type="http://schemas.openxmlformats.org/officeDocument/2006/relationships/font" Target="fonts/SourceSerif4-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469fdc661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469fdc661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e40f1525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e40f1525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are the 3 major insights that we found from the data</a:t>
            </a:r>
            <a:endParaRPr/>
          </a:p>
          <a:p>
            <a:pPr indent="-298450" lvl="0" marL="457200" rtl="0" algn="l">
              <a:spcBef>
                <a:spcPts val="0"/>
              </a:spcBef>
              <a:spcAft>
                <a:spcPts val="0"/>
              </a:spcAft>
              <a:buSzPts val="1100"/>
              <a:buChar char="-"/>
            </a:pPr>
            <a:r>
              <a:rPr lang="en"/>
              <a:t>Some of the information confirms what the residents of </a:t>
            </a:r>
            <a:r>
              <a:rPr lang="en"/>
              <a:t>Galena</a:t>
            </a:r>
            <a:r>
              <a:rPr lang="en"/>
              <a:t> Park have already been feeling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e40f15250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e40f15250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69fdc661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469fdc661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the table was created: </a:t>
            </a:r>
            <a:endParaRPr/>
          </a:p>
          <a:p>
            <a:pPr indent="-298450" lvl="0" marL="457200" rtl="0" algn="l">
              <a:spcBef>
                <a:spcPts val="0"/>
              </a:spcBef>
              <a:spcAft>
                <a:spcPts val="0"/>
              </a:spcAft>
              <a:buSzPts val="1100"/>
              <a:buAutoNum type="arabicPeriod"/>
            </a:pPr>
            <a:r>
              <a:rPr lang="en"/>
              <a:t>Take all the data from each sensor </a:t>
            </a:r>
            <a:r>
              <a:rPr lang="en"/>
              <a:t>separately</a:t>
            </a:r>
            <a:r>
              <a:rPr lang="en"/>
              <a:t> </a:t>
            </a:r>
            <a:endParaRPr/>
          </a:p>
          <a:p>
            <a:pPr indent="-298450" lvl="0" marL="457200" rtl="0" algn="l">
              <a:spcBef>
                <a:spcPts val="0"/>
              </a:spcBef>
              <a:spcAft>
                <a:spcPts val="0"/>
              </a:spcAft>
              <a:buSzPts val="1100"/>
              <a:buAutoNum type="arabicPeriod"/>
            </a:pPr>
            <a:r>
              <a:rPr lang="en"/>
              <a:t>Test each datapoint to see if they are above 15 µg/m³ for PM 2.5 and 45 µg/m³ for PM10 and record them</a:t>
            </a:r>
            <a:endParaRPr/>
          </a:p>
          <a:p>
            <a:pPr indent="-298450" lvl="0" marL="457200" rtl="0" algn="l">
              <a:spcBef>
                <a:spcPts val="0"/>
              </a:spcBef>
              <a:spcAft>
                <a:spcPts val="0"/>
              </a:spcAft>
              <a:buSzPts val="1100"/>
              <a:buAutoNum type="arabicPeriod"/>
            </a:pPr>
            <a:r>
              <a:rPr lang="en"/>
              <a:t>Take the number of points above over the total amount to find % of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Analysis: </a:t>
            </a:r>
            <a:r>
              <a:rPr lang="en"/>
              <a:t>For every time the sensor detects PM2.5 above WHO standards, it detects PM10 above WHO standards 2.6 times. The statistics are also staggering since over a quarter of the time, </a:t>
            </a:r>
            <a:r>
              <a:rPr lang="en"/>
              <a:t>Galena</a:t>
            </a:r>
            <a:r>
              <a:rPr lang="en"/>
              <a:t> Park </a:t>
            </a:r>
            <a:r>
              <a:rPr lang="en"/>
              <a:t>experiences</a:t>
            </a:r>
            <a:r>
              <a:rPr lang="en"/>
              <a:t> air that is above the WHO standards for PM10</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69fdc661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469fdc661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the table was created: </a:t>
            </a:r>
            <a:endParaRPr/>
          </a:p>
          <a:p>
            <a:pPr indent="-298450" lvl="0" marL="457200" rtl="0" algn="l">
              <a:spcBef>
                <a:spcPts val="0"/>
              </a:spcBef>
              <a:spcAft>
                <a:spcPts val="0"/>
              </a:spcAft>
              <a:buSzPts val="1100"/>
              <a:buAutoNum type="arabicPeriod"/>
            </a:pPr>
            <a:r>
              <a:rPr lang="en"/>
              <a:t>Take all the data from each sensor separately </a:t>
            </a:r>
            <a:endParaRPr/>
          </a:p>
          <a:p>
            <a:pPr indent="-298450" lvl="0" marL="457200" rtl="0" algn="l">
              <a:spcBef>
                <a:spcPts val="0"/>
              </a:spcBef>
              <a:spcAft>
                <a:spcPts val="0"/>
              </a:spcAft>
              <a:buSzPts val="1100"/>
              <a:buAutoNum type="arabicPeriod"/>
            </a:pPr>
            <a:r>
              <a:rPr lang="en"/>
              <a:t>Test each datapoint to see if they are above 15 µg/m³ for PM 2.5 and 45 µg/m³ for PM10 and record them</a:t>
            </a:r>
            <a:endParaRPr/>
          </a:p>
          <a:p>
            <a:pPr indent="-298450" lvl="0" marL="457200" rtl="0" algn="l">
              <a:spcBef>
                <a:spcPts val="0"/>
              </a:spcBef>
              <a:spcAft>
                <a:spcPts val="0"/>
              </a:spcAft>
              <a:buSzPts val="1100"/>
              <a:buAutoNum type="arabicPeriod"/>
            </a:pPr>
            <a:r>
              <a:rPr lang="en"/>
              <a:t>Take the number of points above over the total amount to find % of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Analysis: For every time the sensor detects PM2.5 above WHO standards, it detects PM10 above WHO standards 2.6 times. The statistics are also staggering since over a quarter of the time, Galena Park experiences air that is above the WHO standards for PM10</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e4310b15b5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e4310b15b5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a:t>
            </a:r>
            <a:endParaRPr/>
          </a:p>
          <a:p>
            <a:pPr indent="0" lvl="0" marL="0" rtl="0" algn="l">
              <a:spcBef>
                <a:spcPts val="0"/>
              </a:spcBef>
              <a:spcAft>
                <a:spcPts val="0"/>
              </a:spcAft>
              <a:buNone/>
            </a:pPr>
            <a:r>
              <a:rPr lang="en"/>
              <a:t>Here is some data showing the levels of PM 2.5 from sensors </a:t>
            </a:r>
            <a:r>
              <a:rPr lang="en"/>
              <a:t>through</a:t>
            </a:r>
            <a:r>
              <a:rPr lang="en"/>
              <a:t> a box plot. The daily average is computed by taking the average of all data from one sensor on one day. The two red lines represent the WHO Standards for 24hr and Annual. </a:t>
            </a:r>
            <a:r>
              <a:rPr lang="en"/>
              <a:t>Annual standards are lower because they measure long-term exposure and account for short spikes. Breathing in small amounts of pollution every day can cause serious health problems over time.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Analysis:</a:t>
            </a:r>
            <a:endParaRPr/>
          </a:p>
          <a:p>
            <a:pPr indent="0" lvl="0" marL="0" rtl="0" algn="l">
              <a:spcBef>
                <a:spcPts val="0"/>
              </a:spcBef>
              <a:spcAft>
                <a:spcPts val="0"/>
              </a:spcAft>
              <a:buNone/>
            </a:pPr>
            <a:r>
              <a:rPr lang="en"/>
              <a:t>Even though </a:t>
            </a:r>
            <a:r>
              <a:rPr lang="en"/>
              <a:t>it's</a:t>
            </a:r>
            <a:r>
              <a:rPr lang="en"/>
              <a:t> only 7 months of data, it will exceed the annual standard if it continues without change. While there are some data points that are outliers (shown from the black dots above the squares), the daily average is still below the 24hr WHO standard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6e785c46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46e785c46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Data:</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data is very similar to previous slide but shows PM10. One thing to note that is different from the other is the use of a logarithmic scale since some of the outlier data points are very high and would make the box plot too small to see. A logarithmic scale is a way to show numbers that grow or shrink quickly. Instead of going up by the same amount each step (like 1, 2, 3), it goes up by multiplying (like 1, 10, 100, 1000).</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Analysis:</a:t>
            </a:r>
            <a:endParaRPr>
              <a:solidFill>
                <a:schemeClr val="dk1"/>
              </a:solidFill>
            </a:endParaRPr>
          </a:p>
          <a:p>
            <a:pPr indent="0" lvl="0" marL="0" rtl="0" algn="l">
              <a:spcBef>
                <a:spcPts val="0"/>
              </a:spcBef>
              <a:spcAft>
                <a:spcPts val="0"/>
              </a:spcAft>
              <a:buNone/>
            </a:pPr>
            <a:r>
              <a:rPr lang="en">
                <a:solidFill>
                  <a:schemeClr val="dk1"/>
                </a:solidFill>
              </a:rPr>
              <a:t>With the other dataset, the sensors were relatively close to the WHO annual standard, but for this Box Plot, it is well above the annual standard and one of the sensors even reaching above the 24 hr guidelines. One concerning thing to point out are the data points above the box plots (which each represent a day) where the average PM10 level was considerably above 100 µg/m³. This data is not only significantly above the annual guidelines, Clinton Drive has an daily average above the 24hr guideline.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e4310b15b5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e4310b15b5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e40f152502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e40f152502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e4310b15b5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e4310b15b5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469fdc661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469fdc661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46be5974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46be5974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Analysis: To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43cfd0926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43cfd0926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Analysis: Based on the annulus map, it shows that the </a:t>
            </a:r>
            <a:r>
              <a:rPr lang="en"/>
              <a:t>pollution</a:t>
            </a:r>
            <a:r>
              <a:rPr lang="en"/>
              <a:t> only during that period happened towards the southeast region. Also the most intense areas of pollutions happened very early in the morning in that direction.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e40f152502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e40f152502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409d6e6ed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409d6e6ed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409d6e6ed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409d6e6ed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409d6e6e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409d6e6e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ww2.arb.ca.gov/resources/inhalable-particulate-matter-and-health?keywords=2025" TargetMode="External"/><Relationship Id="rId4" Type="http://schemas.openxmlformats.org/officeDocument/2006/relationships/image" Target="../media/image2.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26.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24.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
                <a:latin typeface="Source Serif 4"/>
                <a:ea typeface="Source Serif 4"/>
                <a:cs typeface="Source Serif 4"/>
                <a:sym typeface="Source Serif 4"/>
              </a:rPr>
              <a:t>Galena Park - Información Sobre la Calidad del Aire</a:t>
            </a:r>
            <a:endParaRPr b="1">
              <a:latin typeface="Source Serif 4"/>
              <a:ea typeface="Source Serif 4"/>
              <a:cs typeface="Source Serif 4"/>
              <a:sym typeface="Source Serif 4"/>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Air Partners</a:t>
            </a:r>
            <a:endParaRPr/>
          </a:p>
        </p:txBody>
      </p:sp>
      <p:pic>
        <p:nvPicPr>
          <p:cNvPr id="56" name="Google Shape;56;p13" title="ecagp.jpg"/>
          <p:cNvPicPr preferRelativeResize="0"/>
          <p:nvPr/>
        </p:nvPicPr>
        <p:blipFill rotWithShape="1">
          <a:blip r:embed="rId3">
            <a:alphaModFix/>
          </a:blip>
          <a:srcRect b="0" l="0" r="21470" t="0"/>
          <a:stretch/>
        </p:blipFill>
        <p:spPr>
          <a:xfrm>
            <a:off x="6730850" y="3165900"/>
            <a:ext cx="2220100" cy="1977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433375" y="109800"/>
            <a:ext cx="8427000" cy="7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Source Serif 4"/>
                <a:ea typeface="Source Serif 4"/>
                <a:cs typeface="Source Serif 4"/>
                <a:sym typeface="Source Serif 4"/>
              </a:rPr>
              <a:t>¿Qué es la materia particulada (PM)?</a:t>
            </a:r>
            <a:endParaRPr b="1" sz="3000">
              <a:latin typeface="Source Serif 4"/>
              <a:ea typeface="Source Serif 4"/>
              <a:cs typeface="Source Serif 4"/>
              <a:sym typeface="Source Serif 4"/>
            </a:endParaRPr>
          </a:p>
        </p:txBody>
      </p:sp>
      <p:sp>
        <p:nvSpPr>
          <p:cNvPr id="62" name="Google Shape;62;p14"/>
          <p:cNvSpPr txBox="1"/>
          <p:nvPr/>
        </p:nvSpPr>
        <p:spPr>
          <a:xfrm>
            <a:off x="461375" y="755700"/>
            <a:ext cx="41817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434343"/>
                </a:solidFill>
                <a:latin typeface="Source Serif 4"/>
                <a:ea typeface="Source Serif 4"/>
                <a:cs typeface="Source Serif 4"/>
                <a:sym typeface="Source Serif 4"/>
              </a:rPr>
              <a:t>PM</a:t>
            </a:r>
            <a:r>
              <a:rPr lang="en" sz="1800">
                <a:solidFill>
                  <a:srgbClr val="434343"/>
                </a:solidFill>
                <a:latin typeface="Source Serif 4"/>
                <a:ea typeface="Source Serif 4"/>
                <a:cs typeface="Source Serif 4"/>
                <a:sym typeface="Source Serif 4"/>
              </a:rPr>
              <a:t> - Mezcla de sólidos microscópicos o gotitas líquidas en el aire</a:t>
            </a:r>
            <a:endParaRPr sz="1800">
              <a:solidFill>
                <a:srgbClr val="434343"/>
              </a:solidFill>
              <a:latin typeface="Source Serif 4"/>
              <a:ea typeface="Source Serif 4"/>
              <a:cs typeface="Source Serif 4"/>
              <a:sym typeface="Source Serif 4"/>
            </a:endParaRPr>
          </a:p>
          <a:p>
            <a:pPr indent="0" lvl="0" marL="0" rtl="0" algn="l">
              <a:lnSpc>
                <a:spcPct val="115000"/>
              </a:lnSpc>
              <a:spcBef>
                <a:spcPts val="0"/>
              </a:spcBef>
              <a:spcAft>
                <a:spcPts val="0"/>
              </a:spcAft>
              <a:buNone/>
            </a:pPr>
            <a:r>
              <a:t/>
            </a:r>
            <a:endParaRPr sz="1800">
              <a:solidFill>
                <a:srgbClr val="434343"/>
              </a:solidFill>
              <a:latin typeface="Source Serif 4"/>
              <a:ea typeface="Source Serif 4"/>
              <a:cs typeface="Source Serif 4"/>
              <a:sym typeface="Source Serif 4"/>
            </a:endParaRPr>
          </a:p>
          <a:p>
            <a:pPr indent="0" lvl="0" marL="0" rtl="0" algn="l">
              <a:lnSpc>
                <a:spcPct val="115000"/>
              </a:lnSpc>
              <a:spcBef>
                <a:spcPts val="0"/>
              </a:spcBef>
              <a:spcAft>
                <a:spcPts val="0"/>
              </a:spcAft>
              <a:buNone/>
            </a:pPr>
            <a:r>
              <a:rPr b="1" lang="en" sz="1800">
                <a:solidFill>
                  <a:srgbClr val="434343"/>
                </a:solidFill>
                <a:latin typeface="Source Serif 4"/>
                <a:ea typeface="Source Serif 4"/>
                <a:cs typeface="Source Serif 4"/>
                <a:sym typeface="Source Serif 4"/>
              </a:rPr>
              <a:t>1,2.5,</a:t>
            </a:r>
            <a:r>
              <a:rPr b="1" lang="en" sz="1800">
                <a:solidFill>
                  <a:srgbClr val="434343"/>
                </a:solidFill>
                <a:latin typeface="Source Serif 4"/>
                <a:ea typeface="Source Serif 4"/>
                <a:cs typeface="Source Serif 4"/>
                <a:sym typeface="Source Serif 4"/>
              </a:rPr>
              <a:t>10</a:t>
            </a:r>
            <a:r>
              <a:rPr lang="en" sz="1800">
                <a:solidFill>
                  <a:srgbClr val="434343"/>
                </a:solidFill>
                <a:latin typeface="Source Serif 4"/>
                <a:ea typeface="Source Serif 4"/>
                <a:cs typeface="Source Serif 4"/>
                <a:sym typeface="Source Serif 4"/>
              </a:rPr>
              <a:t> </a:t>
            </a:r>
            <a:r>
              <a:rPr lang="en" sz="1800">
                <a:solidFill>
                  <a:srgbClr val="434343"/>
                </a:solidFill>
                <a:latin typeface="Source Serif 4"/>
                <a:ea typeface="Source Serif 4"/>
                <a:cs typeface="Source Serif 4"/>
                <a:sym typeface="Source Serif 4"/>
              </a:rPr>
              <a:t>- Se refiere al tamaño (en microgramos) de las partículas.</a:t>
            </a:r>
            <a:endParaRPr sz="1800">
              <a:solidFill>
                <a:srgbClr val="434343"/>
              </a:solidFill>
              <a:latin typeface="Source Serif 4"/>
              <a:ea typeface="Source Serif 4"/>
              <a:cs typeface="Source Serif 4"/>
              <a:sym typeface="Source Serif 4"/>
            </a:endParaRPr>
          </a:p>
          <a:p>
            <a:pPr indent="0" lvl="0" marL="0" rtl="0" algn="l">
              <a:lnSpc>
                <a:spcPct val="115000"/>
              </a:lnSpc>
              <a:spcBef>
                <a:spcPts val="0"/>
              </a:spcBef>
              <a:spcAft>
                <a:spcPts val="0"/>
              </a:spcAft>
              <a:buNone/>
            </a:pPr>
            <a:r>
              <a:t/>
            </a:r>
            <a:endParaRPr sz="1800">
              <a:solidFill>
                <a:srgbClr val="434343"/>
              </a:solidFill>
              <a:latin typeface="Source Serif 4"/>
              <a:ea typeface="Source Serif 4"/>
              <a:cs typeface="Source Serif 4"/>
              <a:sym typeface="Source Serif 4"/>
            </a:endParaRPr>
          </a:p>
          <a:p>
            <a:pPr indent="0" lvl="0" marL="0" rtl="0" algn="l">
              <a:lnSpc>
                <a:spcPct val="115000"/>
              </a:lnSpc>
              <a:spcBef>
                <a:spcPts val="0"/>
              </a:spcBef>
              <a:spcAft>
                <a:spcPts val="0"/>
              </a:spcAft>
              <a:buNone/>
            </a:pPr>
            <a:r>
              <a:rPr b="1" lang="en" sz="1800">
                <a:solidFill>
                  <a:srgbClr val="434343"/>
                </a:solidFill>
                <a:latin typeface="Source Serif 4"/>
                <a:ea typeface="Source Serif 4"/>
                <a:cs typeface="Source Serif 4"/>
                <a:sym typeface="Source Serif 4"/>
              </a:rPr>
              <a:t>Directriz de la OMS:</a:t>
            </a:r>
            <a:endParaRPr sz="1800">
              <a:solidFill>
                <a:srgbClr val="434343"/>
              </a:solidFill>
              <a:latin typeface="Source Serif 4"/>
              <a:ea typeface="Source Serif 4"/>
              <a:cs typeface="Source Serif 4"/>
              <a:sym typeface="Source Serif 4"/>
            </a:endParaRPr>
          </a:p>
        </p:txBody>
      </p:sp>
      <p:sp>
        <p:nvSpPr>
          <p:cNvPr id="63" name="Google Shape;63;p14"/>
          <p:cNvSpPr txBox="1"/>
          <p:nvPr/>
        </p:nvSpPr>
        <p:spPr>
          <a:xfrm>
            <a:off x="5683200" y="4743300"/>
            <a:ext cx="346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Source Serif 4"/>
                <a:ea typeface="Source Serif 4"/>
                <a:cs typeface="Source Serif 4"/>
                <a:sym typeface="Source Serif 4"/>
              </a:rPr>
              <a:t>Source: </a:t>
            </a:r>
            <a:r>
              <a:rPr lang="en" u="sng">
                <a:solidFill>
                  <a:schemeClr val="hlink"/>
                </a:solidFill>
                <a:latin typeface="Source Serif 4"/>
                <a:ea typeface="Source Serif 4"/>
                <a:cs typeface="Source Serif 4"/>
                <a:sym typeface="Source Serif 4"/>
                <a:hlinkClick r:id="rId3"/>
              </a:rPr>
              <a:t>California Air Resources Board</a:t>
            </a:r>
            <a:endParaRPr>
              <a:solidFill>
                <a:schemeClr val="dk2"/>
              </a:solidFill>
              <a:latin typeface="Source Serif 4"/>
              <a:ea typeface="Source Serif 4"/>
              <a:cs typeface="Source Serif 4"/>
              <a:sym typeface="Source Serif 4"/>
            </a:endParaRPr>
          </a:p>
        </p:txBody>
      </p:sp>
      <p:pic>
        <p:nvPicPr>
          <p:cNvPr id="64" name="Google Shape;64;p14" title="human_hair_0.png"/>
          <p:cNvPicPr preferRelativeResize="0"/>
          <p:nvPr/>
        </p:nvPicPr>
        <p:blipFill>
          <a:blip r:embed="rId4">
            <a:alphaModFix/>
          </a:blip>
          <a:stretch>
            <a:fillRect/>
          </a:stretch>
        </p:blipFill>
        <p:spPr>
          <a:xfrm>
            <a:off x="4962300" y="1003617"/>
            <a:ext cx="4181700" cy="3136259"/>
          </a:xfrm>
          <a:prstGeom prst="rect">
            <a:avLst/>
          </a:prstGeom>
          <a:noFill/>
          <a:ln>
            <a:noFill/>
          </a:ln>
        </p:spPr>
      </p:pic>
      <p:pic>
        <p:nvPicPr>
          <p:cNvPr id="65" name="Google Shape;65;p14"/>
          <p:cNvPicPr preferRelativeResize="0"/>
          <p:nvPr/>
        </p:nvPicPr>
        <p:blipFill>
          <a:blip r:embed="rId5">
            <a:alphaModFix/>
          </a:blip>
          <a:stretch>
            <a:fillRect/>
          </a:stretch>
        </p:blipFill>
        <p:spPr>
          <a:xfrm>
            <a:off x="1163050" y="3447900"/>
            <a:ext cx="3607074" cy="1552600"/>
          </a:xfrm>
          <a:prstGeom prst="rect">
            <a:avLst/>
          </a:prstGeom>
          <a:noFill/>
          <a:ln>
            <a:noFill/>
          </a:ln>
        </p:spPr>
      </p:pic>
      <p:sp>
        <p:nvSpPr>
          <p:cNvPr id="66" name="Google Shape;66;p14"/>
          <p:cNvSpPr txBox="1"/>
          <p:nvPr/>
        </p:nvSpPr>
        <p:spPr>
          <a:xfrm>
            <a:off x="1245600" y="3542725"/>
            <a:ext cx="1111500" cy="2751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Source Serif 4"/>
                <a:ea typeface="Source Serif 4"/>
                <a:cs typeface="Source Serif 4"/>
                <a:sym typeface="Source Serif 4"/>
              </a:rPr>
              <a:t>contaminante</a:t>
            </a:r>
            <a:endParaRPr sz="1100">
              <a:solidFill>
                <a:schemeClr val="dk1"/>
              </a:solidFill>
              <a:latin typeface="Source Serif 4"/>
              <a:ea typeface="Source Serif 4"/>
              <a:cs typeface="Source Serif 4"/>
              <a:sym typeface="Source Serif 4"/>
            </a:endParaRPr>
          </a:p>
        </p:txBody>
      </p:sp>
      <p:sp>
        <p:nvSpPr>
          <p:cNvPr id="67" name="Google Shape;67;p14"/>
          <p:cNvSpPr txBox="1"/>
          <p:nvPr/>
        </p:nvSpPr>
        <p:spPr>
          <a:xfrm>
            <a:off x="2451050" y="3507325"/>
            <a:ext cx="951600" cy="4002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Source Serif 4"/>
                <a:ea typeface="Source Serif 4"/>
                <a:cs typeface="Source Serif 4"/>
                <a:sym typeface="Source Serif 4"/>
              </a:rPr>
              <a:t>anual</a:t>
            </a:r>
            <a:endParaRPr sz="1100">
              <a:solidFill>
                <a:schemeClr val="dk1"/>
              </a:solidFill>
              <a:latin typeface="Source Serif 4"/>
              <a:ea typeface="Source Serif 4"/>
              <a:cs typeface="Source Serif 4"/>
              <a:sym typeface="Source Serif 4"/>
            </a:endParaRPr>
          </a:p>
        </p:txBody>
      </p:sp>
      <p:sp>
        <p:nvSpPr>
          <p:cNvPr id="68" name="Google Shape;68;p14"/>
          <p:cNvSpPr txBox="1"/>
          <p:nvPr/>
        </p:nvSpPr>
        <p:spPr>
          <a:xfrm>
            <a:off x="3706675" y="3542725"/>
            <a:ext cx="951600" cy="2751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Source Serif 4"/>
                <a:ea typeface="Source Serif 4"/>
                <a:cs typeface="Source Serif 4"/>
                <a:sym typeface="Source Serif 4"/>
              </a:rPr>
              <a:t>24 horas</a:t>
            </a:r>
            <a:endParaRPr sz="1100">
              <a:solidFill>
                <a:schemeClr val="dk1"/>
              </a:solidFill>
              <a:latin typeface="Source Serif 4"/>
              <a:ea typeface="Source Serif 4"/>
              <a:cs typeface="Source Serif 4"/>
              <a:sym typeface="Source Serif 4"/>
            </a:endParaRPr>
          </a:p>
          <a:p>
            <a:pPr indent="0" lvl="0" marL="0" rtl="0" algn="l">
              <a:spcBef>
                <a:spcPts val="0"/>
              </a:spcBef>
              <a:spcAft>
                <a:spcPts val="0"/>
              </a:spcAft>
              <a:buNone/>
            </a:pPr>
            <a:r>
              <a:t/>
            </a:r>
            <a:endParaRPr>
              <a:solidFill>
                <a:schemeClr val="dk1"/>
              </a:solidFill>
              <a:latin typeface="Source Serif 4"/>
              <a:ea typeface="Source Serif 4"/>
              <a:cs typeface="Source Serif 4"/>
              <a:sym typeface="Source Serif 4"/>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Source Serif 4"/>
                <a:ea typeface="Source Serif 4"/>
                <a:cs typeface="Source Serif 4"/>
                <a:sym typeface="Source Serif 4"/>
              </a:rPr>
              <a:t>¿Qué nos dicen los datos?</a:t>
            </a:r>
            <a:endParaRPr b="1">
              <a:latin typeface="Source Serif 4"/>
              <a:ea typeface="Source Serif 4"/>
              <a:cs typeface="Source Serif 4"/>
              <a:sym typeface="Source Serif 4"/>
            </a:endParaRPr>
          </a:p>
          <a:p>
            <a:pPr indent="0" lvl="0" marL="0" rtl="0" algn="l">
              <a:spcBef>
                <a:spcPts val="0"/>
              </a:spcBef>
              <a:spcAft>
                <a:spcPts val="0"/>
              </a:spcAft>
              <a:buNone/>
            </a:pPr>
            <a:r>
              <a:t/>
            </a:r>
            <a:endParaRPr/>
          </a:p>
        </p:txBody>
      </p:sp>
      <p:sp>
        <p:nvSpPr>
          <p:cNvPr id="74" name="Google Shape;74;p15"/>
          <p:cNvSpPr txBox="1"/>
          <p:nvPr>
            <p:ph type="title"/>
          </p:nvPr>
        </p:nvSpPr>
        <p:spPr>
          <a:xfrm>
            <a:off x="839100" y="3473750"/>
            <a:ext cx="1881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Source Serif 4"/>
                <a:ea typeface="Source Serif 4"/>
                <a:cs typeface="Source Serif 4"/>
                <a:sym typeface="Source Serif 4"/>
              </a:rPr>
              <a:t>Niveles elevados de PM</a:t>
            </a:r>
            <a:r>
              <a:rPr baseline="-25000" lang="en" sz="1700">
                <a:latin typeface="Source Serif 4"/>
                <a:ea typeface="Source Serif 4"/>
                <a:cs typeface="Source Serif 4"/>
                <a:sym typeface="Source Serif 4"/>
              </a:rPr>
              <a:t>10</a:t>
            </a:r>
            <a:r>
              <a:rPr lang="en" sz="1800">
                <a:latin typeface="Source Serif 4"/>
                <a:ea typeface="Source Serif 4"/>
                <a:cs typeface="Source Serif 4"/>
                <a:sym typeface="Source Serif 4"/>
              </a:rPr>
              <a:t> en el área de Galena Park</a:t>
            </a:r>
            <a:endParaRPr sz="1800">
              <a:latin typeface="Source Serif 4"/>
              <a:ea typeface="Source Serif 4"/>
              <a:cs typeface="Source Serif 4"/>
              <a:sym typeface="Source Serif 4"/>
            </a:endParaRPr>
          </a:p>
          <a:p>
            <a:pPr indent="0" lvl="0" marL="0" rtl="0" algn="ctr">
              <a:spcBef>
                <a:spcPts val="0"/>
              </a:spcBef>
              <a:spcAft>
                <a:spcPts val="0"/>
              </a:spcAft>
              <a:buNone/>
            </a:pPr>
            <a:r>
              <a:t/>
            </a:r>
            <a:endParaRPr/>
          </a:p>
        </p:txBody>
      </p:sp>
      <p:sp>
        <p:nvSpPr>
          <p:cNvPr id="75" name="Google Shape;75;p15"/>
          <p:cNvSpPr txBox="1"/>
          <p:nvPr>
            <p:ph type="title"/>
          </p:nvPr>
        </p:nvSpPr>
        <p:spPr>
          <a:xfrm>
            <a:off x="3819975" y="3473725"/>
            <a:ext cx="1881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Source Serif 4"/>
                <a:ea typeface="Source Serif 4"/>
                <a:cs typeface="Source Serif 4"/>
                <a:sym typeface="Source Serif 4"/>
              </a:rPr>
              <a:t>Evento extremo de PM</a:t>
            </a:r>
            <a:r>
              <a:rPr baseline="-25000" lang="en" sz="1800">
                <a:latin typeface="Source Serif 4"/>
                <a:ea typeface="Source Serif 4"/>
                <a:cs typeface="Source Serif 4"/>
                <a:sym typeface="Source Serif 4"/>
              </a:rPr>
              <a:t>10</a:t>
            </a:r>
            <a:r>
              <a:rPr lang="en" sz="1800">
                <a:latin typeface="Source Serif 4"/>
                <a:ea typeface="Source Serif 4"/>
                <a:cs typeface="Source Serif 4"/>
                <a:sym typeface="Source Serif 4"/>
              </a:rPr>
              <a:t> – diciembre de 2024</a:t>
            </a:r>
            <a:endParaRPr/>
          </a:p>
        </p:txBody>
      </p:sp>
      <p:sp>
        <p:nvSpPr>
          <p:cNvPr id="76" name="Google Shape;76;p15"/>
          <p:cNvSpPr txBox="1"/>
          <p:nvPr>
            <p:ph type="title"/>
          </p:nvPr>
        </p:nvSpPr>
        <p:spPr>
          <a:xfrm>
            <a:off x="6311838" y="3473725"/>
            <a:ext cx="20991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Source Serif 4"/>
                <a:ea typeface="Source Serif 4"/>
                <a:cs typeface="Source Serif 4"/>
                <a:sym typeface="Source Serif 4"/>
              </a:rPr>
              <a:t>PM</a:t>
            </a:r>
            <a:r>
              <a:rPr baseline="-25000" lang="en" sz="1700">
                <a:latin typeface="Source Serif 4"/>
                <a:ea typeface="Source Serif 4"/>
                <a:cs typeface="Source Serif 4"/>
                <a:sym typeface="Source Serif 4"/>
              </a:rPr>
              <a:t>1</a:t>
            </a:r>
            <a:r>
              <a:rPr lang="en" sz="1800">
                <a:latin typeface="Source Serif 4"/>
                <a:ea typeface="Source Serif 4"/>
                <a:cs typeface="Source Serif 4"/>
                <a:sym typeface="Source Serif 4"/>
              </a:rPr>
              <a:t> y PM</a:t>
            </a:r>
            <a:r>
              <a:rPr baseline="-25000" lang="en" sz="1700">
                <a:latin typeface="Source Serif 4"/>
                <a:ea typeface="Source Serif 4"/>
                <a:cs typeface="Source Serif 4"/>
                <a:sym typeface="Source Serif 4"/>
              </a:rPr>
              <a:t>2.5</a:t>
            </a:r>
            <a:r>
              <a:rPr lang="en" sz="1800">
                <a:latin typeface="Source Serif 4"/>
                <a:ea typeface="Source Serif 4"/>
                <a:cs typeface="Source Serif 4"/>
                <a:sym typeface="Source Serif 4"/>
              </a:rPr>
              <a:t> provienen de fuentes diferentes a PM</a:t>
            </a:r>
            <a:r>
              <a:rPr baseline="-25000" lang="en" sz="1800">
                <a:latin typeface="Source Serif 4"/>
                <a:ea typeface="Source Serif 4"/>
                <a:cs typeface="Source Serif 4"/>
                <a:sym typeface="Source Serif 4"/>
              </a:rPr>
              <a:t>10</a:t>
            </a:r>
            <a:endParaRPr baseline="-25000" sz="1800">
              <a:latin typeface="Source Serif 4"/>
              <a:ea typeface="Source Serif 4"/>
              <a:cs typeface="Source Serif 4"/>
              <a:sym typeface="Source Serif 4"/>
            </a:endParaRPr>
          </a:p>
        </p:txBody>
      </p:sp>
      <p:pic>
        <p:nvPicPr>
          <p:cNvPr id="77" name="Google Shape;77;p15"/>
          <p:cNvPicPr preferRelativeResize="0"/>
          <p:nvPr/>
        </p:nvPicPr>
        <p:blipFill>
          <a:blip r:embed="rId3">
            <a:alphaModFix/>
          </a:blip>
          <a:stretch>
            <a:fillRect/>
          </a:stretch>
        </p:blipFill>
        <p:spPr>
          <a:xfrm>
            <a:off x="3711076" y="1329206"/>
            <a:ext cx="2099100" cy="1833044"/>
          </a:xfrm>
          <a:prstGeom prst="rect">
            <a:avLst/>
          </a:prstGeom>
          <a:noFill/>
          <a:ln>
            <a:noFill/>
          </a:ln>
        </p:spPr>
      </p:pic>
      <p:pic>
        <p:nvPicPr>
          <p:cNvPr id="78" name="Google Shape;78;p15"/>
          <p:cNvPicPr preferRelativeResize="0"/>
          <p:nvPr/>
        </p:nvPicPr>
        <p:blipFill>
          <a:blip r:embed="rId4">
            <a:alphaModFix/>
          </a:blip>
          <a:stretch>
            <a:fillRect/>
          </a:stretch>
        </p:blipFill>
        <p:spPr>
          <a:xfrm>
            <a:off x="6420742" y="2124597"/>
            <a:ext cx="1881272" cy="1160528"/>
          </a:xfrm>
          <a:prstGeom prst="rect">
            <a:avLst/>
          </a:prstGeom>
          <a:noFill/>
          <a:ln>
            <a:noFill/>
          </a:ln>
        </p:spPr>
      </p:pic>
      <p:pic>
        <p:nvPicPr>
          <p:cNvPr id="79" name="Google Shape;79;p15"/>
          <p:cNvPicPr preferRelativeResize="0"/>
          <p:nvPr/>
        </p:nvPicPr>
        <p:blipFill>
          <a:blip r:embed="rId5">
            <a:alphaModFix/>
          </a:blip>
          <a:stretch>
            <a:fillRect/>
          </a:stretch>
        </p:blipFill>
        <p:spPr>
          <a:xfrm>
            <a:off x="6420725" y="964050"/>
            <a:ext cx="1881301" cy="1160547"/>
          </a:xfrm>
          <a:prstGeom prst="rect">
            <a:avLst/>
          </a:prstGeom>
          <a:noFill/>
          <a:ln>
            <a:noFill/>
          </a:ln>
        </p:spPr>
      </p:pic>
      <p:grpSp>
        <p:nvGrpSpPr>
          <p:cNvPr id="80" name="Google Shape;80;p15"/>
          <p:cNvGrpSpPr/>
          <p:nvPr/>
        </p:nvGrpSpPr>
        <p:grpSpPr>
          <a:xfrm>
            <a:off x="730198" y="1616663"/>
            <a:ext cx="2099094" cy="1258132"/>
            <a:chOff x="921765" y="1900342"/>
            <a:chExt cx="1928960" cy="1156159"/>
          </a:xfrm>
        </p:grpSpPr>
        <p:grpSp>
          <p:nvGrpSpPr>
            <p:cNvPr id="81" name="Google Shape;81;p15"/>
            <p:cNvGrpSpPr/>
            <p:nvPr/>
          </p:nvGrpSpPr>
          <p:grpSpPr>
            <a:xfrm>
              <a:off x="921765" y="1900342"/>
              <a:ext cx="1881201" cy="1156159"/>
              <a:chOff x="398100" y="1581150"/>
              <a:chExt cx="4033450" cy="2478900"/>
            </a:xfrm>
          </p:grpSpPr>
          <p:pic>
            <p:nvPicPr>
              <p:cNvPr id="82" name="Google Shape;82;p15"/>
              <p:cNvPicPr preferRelativeResize="0"/>
              <p:nvPr/>
            </p:nvPicPr>
            <p:blipFill>
              <a:blip r:embed="rId6">
                <a:alphaModFix/>
              </a:blip>
              <a:stretch>
                <a:fillRect/>
              </a:stretch>
            </p:blipFill>
            <p:spPr>
              <a:xfrm>
                <a:off x="398100" y="1581150"/>
                <a:ext cx="4033450" cy="2478900"/>
              </a:xfrm>
              <a:prstGeom prst="rect">
                <a:avLst/>
              </a:prstGeom>
              <a:noFill/>
              <a:ln>
                <a:noFill/>
              </a:ln>
            </p:spPr>
          </p:pic>
          <p:sp>
            <p:nvSpPr>
              <p:cNvPr id="83" name="Google Shape;83;p15"/>
              <p:cNvSpPr/>
              <p:nvPr/>
            </p:nvSpPr>
            <p:spPr>
              <a:xfrm>
                <a:off x="3857650" y="2725225"/>
                <a:ext cx="531900" cy="301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4" name="Google Shape;84;p15"/>
            <p:cNvSpPr txBox="1"/>
            <p:nvPr/>
          </p:nvSpPr>
          <p:spPr>
            <a:xfrm>
              <a:off x="2443025" y="2415450"/>
              <a:ext cx="4077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
                  <a:solidFill>
                    <a:schemeClr val="dk2"/>
                  </a:solidFill>
                </a:rPr>
                <a:t>Clinton Dr</a:t>
              </a:r>
              <a:endParaRPr sz="200">
                <a:solidFill>
                  <a:schemeClr val="dk2"/>
                </a:solidFill>
              </a:endParaRPr>
            </a:p>
          </p:txBody>
        </p:sp>
        <p:sp>
          <p:nvSpPr>
            <p:cNvPr id="85" name="Google Shape;85;p15"/>
            <p:cNvSpPr txBox="1"/>
            <p:nvPr/>
          </p:nvSpPr>
          <p:spPr>
            <a:xfrm>
              <a:off x="2443025" y="2350300"/>
              <a:ext cx="3858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
                  <a:solidFill>
                    <a:schemeClr val="dk2"/>
                  </a:solidFill>
                </a:rPr>
                <a:t>Eastway St</a:t>
              </a:r>
              <a:endParaRPr sz="200">
                <a:solidFill>
                  <a:schemeClr val="dk2"/>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1290000" y="2150850"/>
            <a:ext cx="65640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a:latin typeface="Source Serif 4"/>
                <a:ea typeface="Source Serif 4"/>
                <a:cs typeface="Source Serif 4"/>
                <a:sym typeface="Source Serif 4"/>
              </a:rPr>
              <a:t>Niveles elevados de PM10 en el área de Galena Park</a:t>
            </a:r>
            <a:endParaRPr b="1">
              <a:latin typeface="Source Serif 4"/>
              <a:ea typeface="Source Serif 4"/>
              <a:cs typeface="Source Serif 4"/>
              <a:sym typeface="Source Serif 4"/>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433500" y="109800"/>
            <a:ext cx="8277000" cy="7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Source Serif 4"/>
                <a:ea typeface="Source Serif 4"/>
                <a:cs typeface="Source Serif 4"/>
                <a:sym typeface="Source Serif 4"/>
              </a:rPr>
              <a:t>Galena Park pasa un tiempo significativo con niveles que superan los estándares</a:t>
            </a:r>
            <a:endParaRPr b="1" sz="3000">
              <a:latin typeface="Source Serif 4"/>
              <a:ea typeface="Source Serif 4"/>
              <a:cs typeface="Source Serif 4"/>
              <a:sym typeface="Source Serif 4"/>
            </a:endParaRPr>
          </a:p>
        </p:txBody>
      </p:sp>
      <p:sp>
        <p:nvSpPr>
          <p:cNvPr id="96" name="Google Shape;96;p17"/>
          <p:cNvSpPr txBox="1"/>
          <p:nvPr/>
        </p:nvSpPr>
        <p:spPr>
          <a:xfrm>
            <a:off x="224850" y="1730500"/>
            <a:ext cx="4181700" cy="14175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Font typeface="Source Serif 4"/>
              <a:buChar char="-"/>
            </a:pPr>
            <a:r>
              <a:rPr lang="en" sz="1800">
                <a:solidFill>
                  <a:schemeClr val="dk2"/>
                </a:solidFill>
                <a:latin typeface="Source Serif 4"/>
                <a:ea typeface="Source Serif 4"/>
                <a:cs typeface="Source Serif 4"/>
                <a:sym typeface="Source Serif 4"/>
              </a:rPr>
              <a:t>La tabla muestra el </a:t>
            </a:r>
            <a:r>
              <a:rPr lang="en" sz="1800">
                <a:solidFill>
                  <a:schemeClr val="dk2"/>
                </a:solidFill>
                <a:latin typeface="Source Serif 4"/>
                <a:ea typeface="Source Serif 4"/>
                <a:cs typeface="Source Serif 4"/>
                <a:sym typeface="Source Serif 4"/>
              </a:rPr>
              <a:t>% de tiempo que los sensores detectaron niveles de PM</a:t>
            </a:r>
            <a:r>
              <a:rPr baseline="-25000" lang="en" sz="1800">
                <a:solidFill>
                  <a:schemeClr val="dk2"/>
                </a:solidFill>
                <a:latin typeface="Source Serif 4"/>
                <a:ea typeface="Source Serif 4"/>
                <a:cs typeface="Source Serif 4"/>
                <a:sym typeface="Source Serif 4"/>
              </a:rPr>
              <a:t>2.5/10 </a:t>
            </a:r>
            <a:r>
              <a:rPr lang="en" sz="1800">
                <a:solidFill>
                  <a:schemeClr val="dk2"/>
                </a:solidFill>
                <a:latin typeface="Source Serif 4"/>
                <a:ea typeface="Source Serif 4"/>
                <a:cs typeface="Source Serif 4"/>
                <a:sym typeface="Source Serif 4"/>
              </a:rPr>
              <a:t>superiores a los estándares de la OMS.</a:t>
            </a:r>
            <a:endParaRPr sz="1800">
              <a:solidFill>
                <a:schemeClr val="dk2"/>
              </a:solidFill>
              <a:latin typeface="Source Serif 4"/>
              <a:ea typeface="Source Serif 4"/>
              <a:cs typeface="Source Serif 4"/>
              <a:sym typeface="Source Serif 4"/>
            </a:endParaRPr>
          </a:p>
        </p:txBody>
      </p:sp>
      <p:pic>
        <p:nvPicPr>
          <p:cNvPr id="97" name="Google Shape;97;p17"/>
          <p:cNvPicPr preferRelativeResize="0"/>
          <p:nvPr/>
        </p:nvPicPr>
        <p:blipFill>
          <a:blip r:embed="rId3">
            <a:alphaModFix/>
          </a:blip>
          <a:stretch>
            <a:fillRect/>
          </a:stretch>
        </p:blipFill>
        <p:spPr>
          <a:xfrm>
            <a:off x="4711350" y="1211150"/>
            <a:ext cx="4242825" cy="2940525"/>
          </a:xfrm>
          <a:prstGeom prst="rect">
            <a:avLst/>
          </a:prstGeom>
          <a:noFill/>
          <a:ln>
            <a:noFill/>
          </a:ln>
        </p:spPr>
      </p:pic>
      <p:sp>
        <p:nvSpPr>
          <p:cNvPr id="98" name="Google Shape;98;p17"/>
          <p:cNvSpPr txBox="1"/>
          <p:nvPr/>
        </p:nvSpPr>
        <p:spPr>
          <a:xfrm>
            <a:off x="3852250" y="4221775"/>
            <a:ext cx="43800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latin typeface="Source Serif 4"/>
                <a:ea typeface="Source Serif 4"/>
                <a:cs typeface="Source Serif 4"/>
                <a:sym typeface="Source Serif 4"/>
              </a:rPr>
              <a:t>Galena Park es</a:t>
            </a:r>
            <a:r>
              <a:rPr lang="en">
                <a:solidFill>
                  <a:schemeClr val="dk2"/>
                </a:solidFill>
                <a:latin typeface="Source Serif 4"/>
                <a:ea typeface="Source Serif 4"/>
                <a:cs typeface="Source Serif 4"/>
                <a:sym typeface="Source Serif 4"/>
              </a:rPr>
              <a:t>tá</a:t>
            </a:r>
            <a:r>
              <a:rPr lang="en">
                <a:solidFill>
                  <a:schemeClr val="dk2"/>
                </a:solidFill>
                <a:latin typeface="Source Serif 4"/>
                <a:ea typeface="Source Serif 4"/>
                <a:cs typeface="Source Serif 4"/>
                <a:sym typeface="Source Serif 4"/>
              </a:rPr>
              <a:t> expuesto a aire nocivo aproximadamente una cuarta parte del tiempo.</a:t>
            </a:r>
            <a:endParaRPr>
              <a:solidFill>
                <a:schemeClr val="dk2"/>
              </a:solidFill>
              <a:latin typeface="Source Serif 4"/>
              <a:ea typeface="Source Serif 4"/>
              <a:cs typeface="Source Serif 4"/>
              <a:sym typeface="Source Serif 4"/>
            </a:endParaRPr>
          </a:p>
        </p:txBody>
      </p:sp>
      <p:cxnSp>
        <p:nvCxnSpPr>
          <p:cNvPr id="99" name="Google Shape;99;p17"/>
          <p:cNvCxnSpPr/>
          <p:nvPr/>
        </p:nvCxnSpPr>
        <p:spPr>
          <a:xfrm flipH="1" rot="10800000">
            <a:off x="7800350" y="4094875"/>
            <a:ext cx="342900" cy="317100"/>
          </a:xfrm>
          <a:prstGeom prst="straightConnector1">
            <a:avLst/>
          </a:prstGeom>
          <a:noFill/>
          <a:ln cap="flat" cmpd="sng" w="28575">
            <a:solidFill>
              <a:schemeClr val="dk2"/>
            </a:solidFill>
            <a:prstDash val="solid"/>
            <a:round/>
            <a:headEnd len="med" w="med" type="none"/>
            <a:tailEnd len="med" w="med" type="triangle"/>
          </a:ln>
        </p:spPr>
      </p:cxnSp>
      <p:sp>
        <p:nvSpPr>
          <p:cNvPr id="100" name="Google Shape;100;p17"/>
          <p:cNvSpPr txBox="1"/>
          <p:nvPr/>
        </p:nvSpPr>
        <p:spPr>
          <a:xfrm>
            <a:off x="4982975" y="1618850"/>
            <a:ext cx="903600" cy="369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erif 4"/>
                <a:ea typeface="Source Serif 4"/>
                <a:cs typeface="Source Serif 4"/>
                <a:sym typeface="Source Serif 4"/>
              </a:rPr>
              <a:t>sensores</a:t>
            </a:r>
            <a:endParaRPr b="1" sz="1200">
              <a:solidFill>
                <a:schemeClr val="dk1"/>
              </a:solidFill>
              <a:latin typeface="Source Serif 4"/>
              <a:ea typeface="Source Serif 4"/>
              <a:cs typeface="Source Serif 4"/>
              <a:sym typeface="Source Serif 4"/>
            </a:endParaRPr>
          </a:p>
        </p:txBody>
      </p:sp>
      <p:sp>
        <p:nvSpPr>
          <p:cNvPr id="101" name="Google Shape;101;p17"/>
          <p:cNvSpPr txBox="1"/>
          <p:nvPr/>
        </p:nvSpPr>
        <p:spPr>
          <a:xfrm>
            <a:off x="6158200" y="1261500"/>
            <a:ext cx="1349100" cy="997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Source Serif 4"/>
                <a:ea typeface="Source Serif 4"/>
                <a:cs typeface="Source Serif 4"/>
                <a:sym typeface="Source Serif 4"/>
              </a:rPr>
              <a:t>% de tiempo que los sensores detectaron niveles de PM2.5 superiores a los estándares de la OMS</a:t>
            </a:r>
            <a:r>
              <a:rPr b="1" lang="en" sz="900">
                <a:solidFill>
                  <a:schemeClr val="dk1"/>
                </a:solidFill>
                <a:latin typeface="Source Serif 4"/>
                <a:ea typeface="Source Serif 4"/>
                <a:cs typeface="Source Serif 4"/>
                <a:sym typeface="Source Serif 4"/>
              </a:rPr>
              <a:t>(15 µg/m</a:t>
            </a:r>
            <a:r>
              <a:rPr b="1" baseline="30000" lang="en" sz="900">
                <a:solidFill>
                  <a:schemeClr val="dk1"/>
                </a:solidFill>
                <a:latin typeface="Source Serif 4"/>
                <a:ea typeface="Source Serif 4"/>
                <a:cs typeface="Source Serif 4"/>
                <a:sym typeface="Source Serif 4"/>
              </a:rPr>
              <a:t>3</a:t>
            </a:r>
            <a:r>
              <a:rPr b="1" lang="en" sz="1200">
                <a:solidFill>
                  <a:schemeClr val="dk1"/>
                </a:solidFill>
                <a:latin typeface="Source Serif 4"/>
                <a:ea typeface="Source Serif 4"/>
                <a:cs typeface="Source Serif 4"/>
                <a:sym typeface="Source Serif 4"/>
              </a:rPr>
              <a:t>)</a:t>
            </a:r>
            <a:endParaRPr b="1" sz="900">
              <a:solidFill>
                <a:schemeClr val="dk1"/>
              </a:solidFill>
              <a:latin typeface="Source Serif 4"/>
              <a:ea typeface="Source Serif 4"/>
              <a:cs typeface="Source Serif 4"/>
              <a:sym typeface="Source Serif 4"/>
            </a:endParaRPr>
          </a:p>
          <a:p>
            <a:pPr indent="0" lvl="0" marL="0" rtl="0" algn="l">
              <a:spcBef>
                <a:spcPts val="0"/>
              </a:spcBef>
              <a:spcAft>
                <a:spcPts val="0"/>
              </a:spcAft>
              <a:buNone/>
            </a:pPr>
            <a:r>
              <a:t/>
            </a:r>
            <a:endParaRPr b="1" sz="1200">
              <a:solidFill>
                <a:schemeClr val="dk1"/>
              </a:solidFill>
              <a:latin typeface="Source Serif 4"/>
              <a:ea typeface="Source Serif 4"/>
              <a:cs typeface="Source Serif 4"/>
              <a:sym typeface="Source Serif 4"/>
            </a:endParaRPr>
          </a:p>
          <a:p>
            <a:pPr indent="0" lvl="0" marL="0" rtl="0" algn="l">
              <a:spcBef>
                <a:spcPts val="0"/>
              </a:spcBef>
              <a:spcAft>
                <a:spcPts val="0"/>
              </a:spcAft>
              <a:buNone/>
            </a:pPr>
            <a:r>
              <a:t/>
            </a:r>
            <a:endParaRPr b="1" sz="1200">
              <a:solidFill>
                <a:schemeClr val="dk1"/>
              </a:solidFill>
              <a:latin typeface="Source Serif 4"/>
              <a:ea typeface="Source Serif 4"/>
              <a:cs typeface="Source Serif 4"/>
              <a:sym typeface="Source Serif 4"/>
            </a:endParaRPr>
          </a:p>
        </p:txBody>
      </p:sp>
      <p:sp>
        <p:nvSpPr>
          <p:cNvPr id="102" name="Google Shape;102;p17"/>
          <p:cNvSpPr txBox="1"/>
          <p:nvPr/>
        </p:nvSpPr>
        <p:spPr>
          <a:xfrm>
            <a:off x="7593800" y="1261500"/>
            <a:ext cx="1311600" cy="997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Source Serif 4"/>
                <a:ea typeface="Source Serif 4"/>
                <a:cs typeface="Source Serif 4"/>
                <a:sym typeface="Source Serif 4"/>
              </a:rPr>
              <a:t>% de tiempo que los sensores detectaron niveles de PM2.5 superiores a los estándares de la OMS (45 µg/m</a:t>
            </a:r>
            <a:r>
              <a:rPr b="1" baseline="30000" lang="en" sz="900">
                <a:solidFill>
                  <a:schemeClr val="dk1"/>
                </a:solidFill>
                <a:latin typeface="Source Serif 4"/>
                <a:ea typeface="Source Serif 4"/>
                <a:cs typeface="Source Serif 4"/>
                <a:sym typeface="Source Serif 4"/>
              </a:rPr>
              <a:t>3</a:t>
            </a:r>
            <a:r>
              <a:rPr b="1" lang="en" sz="1200">
                <a:solidFill>
                  <a:schemeClr val="dk1"/>
                </a:solidFill>
                <a:latin typeface="Source Serif 4"/>
                <a:ea typeface="Source Serif 4"/>
                <a:cs typeface="Source Serif 4"/>
                <a:sym typeface="Source Serif 4"/>
              </a:rPr>
              <a:t>)</a:t>
            </a:r>
            <a:endParaRPr b="1" sz="1200">
              <a:solidFill>
                <a:schemeClr val="dk1"/>
              </a:solidFill>
              <a:latin typeface="Source Serif 4"/>
              <a:ea typeface="Source Serif 4"/>
              <a:cs typeface="Source Serif 4"/>
              <a:sym typeface="Source Serif 4"/>
            </a:endParaRPr>
          </a:p>
          <a:p>
            <a:pPr indent="0" lvl="0" marL="0" rtl="0" algn="l">
              <a:spcBef>
                <a:spcPts val="0"/>
              </a:spcBef>
              <a:spcAft>
                <a:spcPts val="0"/>
              </a:spcAft>
              <a:buNone/>
            </a:pPr>
            <a:r>
              <a:t/>
            </a:r>
            <a:endParaRPr b="1" sz="1200">
              <a:solidFill>
                <a:schemeClr val="dk1"/>
              </a:solidFill>
              <a:latin typeface="Source Serif 4"/>
              <a:ea typeface="Source Serif 4"/>
              <a:cs typeface="Source Serif 4"/>
              <a:sym typeface="Source Serif 4"/>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8"/>
          <p:cNvSpPr txBox="1"/>
          <p:nvPr>
            <p:ph type="title"/>
          </p:nvPr>
        </p:nvSpPr>
        <p:spPr>
          <a:xfrm>
            <a:off x="218450" y="109800"/>
            <a:ext cx="8788500" cy="7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Source Serif 4"/>
                <a:ea typeface="Source Serif 4"/>
                <a:cs typeface="Source Serif 4"/>
                <a:sym typeface="Source Serif 4"/>
              </a:rPr>
              <a:t>¿Cuándo es peor la contaminación por PM</a:t>
            </a:r>
            <a:r>
              <a:rPr b="1" baseline="-25000" lang="en" sz="3000">
                <a:latin typeface="Source Serif 4"/>
                <a:ea typeface="Source Serif 4"/>
                <a:cs typeface="Source Serif 4"/>
                <a:sym typeface="Source Serif 4"/>
              </a:rPr>
              <a:t>10</a:t>
            </a:r>
            <a:r>
              <a:rPr b="1" lang="en" sz="3000">
                <a:latin typeface="Source Serif 4"/>
                <a:ea typeface="Source Serif 4"/>
                <a:cs typeface="Source Serif 4"/>
                <a:sym typeface="Source Serif 4"/>
              </a:rPr>
              <a:t>?</a:t>
            </a:r>
            <a:endParaRPr b="1" sz="3000">
              <a:latin typeface="Source Serif 4"/>
              <a:ea typeface="Source Serif 4"/>
              <a:cs typeface="Source Serif 4"/>
              <a:sym typeface="Source Serif 4"/>
            </a:endParaRPr>
          </a:p>
        </p:txBody>
      </p:sp>
      <p:sp>
        <p:nvSpPr>
          <p:cNvPr id="108" name="Google Shape;108;p18"/>
          <p:cNvSpPr txBox="1"/>
          <p:nvPr/>
        </p:nvSpPr>
        <p:spPr>
          <a:xfrm>
            <a:off x="461375" y="755700"/>
            <a:ext cx="3898200" cy="421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latin typeface="Source Serif 4"/>
                <a:ea typeface="Source Serif 4"/>
                <a:cs typeface="Source Serif 4"/>
                <a:sym typeface="Source Serif 4"/>
              </a:rPr>
              <a:t>El gráfico muestra una diurna de ambos sensores</a:t>
            </a:r>
            <a:endParaRPr sz="1800">
              <a:solidFill>
                <a:schemeClr val="dk2"/>
              </a:solidFill>
              <a:latin typeface="Source Serif 4"/>
              <a:ea typeface="Source Serif 4"/>
              <a:cs typeface="Source Serif 4"/>
              <a:sym typeface="Source Serif 4"/>
            </a:endParaRPr>
          </a:p>
          <a:p>
            <a:pPr indent="0" lvl="0" marL="0" rtl="0" algn="l">
              <a:lnSpc>
                <a:spcPct val="115000"/>
              </a:lnSpc>
              <a:spcBef>
                <a:spcPts val="0"/>
              </a:spcBef>
              <a:spcAft>
                <a:spcPts val="0"/>
              </a:spcAft>
              <a:buNone/>
            </a:pPr>
            <a:r>
              <a:t/>
            </a:r>
            <a:endParaRPr sz="1800">
              <a:solidFill>
                <a:schemeClr val="dk2"/>
              </a:solidFill>
              <a:latin typeface="Source Serif 4"/>
              <a:ea typeface="Source Serif 4"/>
              <a:cs typeface="Source Serif 4"/>
              <a:sym typeface="Source Serif 4"/>
            </a:endParaRPr>
          </a:p>
          <a:p>
            <a:pPr indent="-330200" lvl="0" marL="457200" rtl="0" algn="l">
              <a:lnSpc>
                <a:spcPct val="115000"/>
              </a:lnSpc>
              <a:spcBef>
                <a:spcPts val="0"/>
              </a:spcBef>
              <a:spcAft>
                <a:spcPts val="0"/>
              </a:spcAft>
              <a:buClr>
                <a:schemeClr val="dk2"/>
              </a:buClr>
              <a:buSzPts val="1600"/>
              <a:buFont typeface="Source Serif 4"/>
              <a:buChar char="-"/>
            </a:pPr>
            <a:r>
              <a:rPr lang="en" sz="1600">
                <a:solidFill>
                  <a:schemeClr val="dk2"/>
                </a:solidFill>
                <a:latin typeface="Source Serif 4"/>
                <a:ea typeface="Source Serif 4"/>
                <a:cs typeface="Source Serif 4"/>
                <a:sym typeface="Source Serif 4"/>
              </a:rPr>
              <a:t>Esto muestra el nivel de PM</a:t>
            </a:r>
            <a:r>
              <a:rPr baseline="-25000" lang="en" sz="1600">
                <a:solidFill>
                  <a:schemeClr val="dk2"/>
                </a:solidFill>
                <a:latin typeface="Source Serif 4"/>
                <a:ea typeface="Source Serif 4"/>
                <a:cs typeface="Source Serif 4"/>
                <a:sym typeface="Source Serif 4"/>
              </a:rPr>
              <a:t>10</a:t>
            </a:r>
            <a:r>
              <a:rPr lang="en" sz="1600">
                <a:solidFill>
                  <a:schemeClr val="dk2"/>
                </a:solidFill>
                <a:latin typeface="Source Serif 4"/>
                <a:ea typeface="Source Serif 4"/>
                <a:cs typeface="Source Serif 4"/>
                <a:sym typeface="Source Serif 4"/>
              </a:rPr>
              <a:t> en promedio durante un momento específico del día.</a:t>
            </a:r>
            <a:endParaRPr sz="1600">
              <a:solidFill>
                <a:schemeClr val="dk2"/>
              </a:solidFill>
              <a:latin typeface="Source Serif 4"/>
              <a:ea typeface="Source Serif 4"/>
              <a:cs typeface="Source Serif 4"/>
              <a:sym typeface="Source Serif 4"/>
            </a:endParaRPr>
          </a:p>
          <a:p>
            <a:pPr indent="0" lvl="0" marL="0" rtl="0" algn="l">
              <a:lnSpc>
                <a:spcPct val="115000"/>
              </a:lnSpc>
              <a:spcBef>
                <a:spcPts val="0"/>
              </a:spcBef>
              <a:spcAft>
                <a:spcPts val="0"/>
              </a:spcAft>
              <a:buNone/>
            </a:pPr>
            <a:r>
              <a:t/>
            </a:r>
            <a:endParaRPr sz="1600">
              <a:solidFill>
                <a:schemeClr val="dk2"/>
              </a:solidFill>
              <a:latin typeface="Source Serif 4"/>
              <a:ea typeface="Source Serif 4"/>
              <a:cs typeface="Source Serif 4"/>
              <a:sym typeface="Source Serif 4"/>
            </a:endParaRPr>
          </a:p>
          <a:p>
            <a:pPr indent="-330200" lvl="0" marL="457200" rtl="0" algn="l">
              <a:lnSpc>
                <a:spcPct val="115000"/>
              </a:lnSpc>
              <a:spcBef>
                <a:spcPts val="0"/>
              </a:spcBef>
              <a:spcAft>
                <a:spcPts val="0"/>
              </a:spcAft>
              <a:buClr>
                <a:schemeClr val="dk2"/>
              </a:buClr>
              <a:buSzPts val="1600"/>
              <a:buFont typeface="Source Serif 4"/>
              <a:buChar char="-"/>
            </a:pPr>
            <a:r>
              <a:rPr lang="en" sz="1600">
                <a:solidFill>
                  <a:schemeClr val="dk2"/>
                </a:solidFill>
                <a:latin typeface="Source Serif 4"/>
                <a:ea typeface="Source Serif 4"/>
                <a:cs typeface="Source Serif 4"/>
                <a:sym typeface="Source Serif 4"/>
              </a:rPr>
              <a:t>Los niveles de PM10 en Clinton Drive son en general más altos en comparación con Eastway Street, lo que demuestra que PM10 es más frecuente hacia Clinton Drive (sureste).</a:t>
            </a:r>
            <a:endParaRPr sz="1600">
              <a:solidFill>
                <a:schemeClr val="dk2"/>
              </a:solidFill>
              <a:latin typeface="Source Serif 4"/>
              <a:ea typeface="Source Serif 4"/>
              <a:cs typeface="Source Serif 4"/>
              <a:sym typeface="Source Serif 4"/>
            </a:endParaRPr>
          </a:p>
          <a:p>
            <a:pPr indent="0" lvl="0" marL="0" rtl="0" algn="l">
              <a:lnSpc>
                <a:spcPct val="115000"/>
              </a:lnSpc>
              <a:spcBef>
                <a:spcPts val="0"/>
              </a:spcBef>
              <a:spcAft>
                <a:spcPts val="0"/>
              </a:spcAft>
              <a:buNone/>
            </a:pPr>
            <a:r>
              <a:rPr lang="en" sz="1600">
                <a:solidFill>
                  <a:schemeClr val="dk2"/>
                </a:solidFill>
                <a:latin typeface="Source Serif 4"/>
                <a:ea typeface="Source Serif 4"/>
                <a:cs typeface="Source Serif 4"/>
                <a:sym typeface="Source Serif 4"/>
              </a:rPr>
              <a:t> </a:t>
            </a:r>
            <a:endParaRPr sz="1600">
              <a:solidFill>
                <a:schemeClr val="dk2"/>
              </a:solidFill>
              <a:latin typeface="Source Serif 4"/>
              <a:ea typeface="Source Serif 4"/>
              <a:cs typeface="Source Serif 4"/>
              <a:sym typeface="Source Serif 4"/>
            </a:endParaRPr>
          </a:p>
        </p:txBody>
      </p:sp>
      <p:grpSp>
        <p:nvGrpSpPr>
          <p:cNvPr id="109" name="Google Shape;109;p18"/>
          <p:cNvGrpSpPr/>
          <p:nvPr/>
        </p:nvGrpSpPr>
        <p:grpSpPr>
          <a:xfrm>
            <a:off x="4643075" y="1874444"/>
            <a:ext cx="4500927" cy="2766205"/>
            <a:chOff x="398100" y="1581150"/>
            <a:chExt cx="4033450" cy="2478900"/>
          </a:xfrm>
        </p:grpSpPr>
        <p:pic>
          <p:nvPicPr>
            <p:cNvPr id="110" name="Google Shape;110;p18"/>
            <p:cNvPicPr preferRelativeResize="0"/>
            <p:nvPr/>
          </p:nvPicPr>
          <p:blipFill>
            <a:blip r:embed="rId3">
              <a:alphaModFix/>
            </a:blip>
            <a:stretch>
              <a:fillRect/>
            </a:stretch>
          </p:blipFill>
          <p:spPr>
            <a:xfrm>
              <a:off x="398100" y="1581150"/>
              <a:ext cx="4033450" cy="2478900"/>
            </a:xfrm>
            <a:prstGeom prst="rect">
              <a:avLst/>
            </a:prstGeom>
            <a:noFill/>
            <a:ln>
              <a:noFill/>
            </a:ln>
          </p:spPr>
        </p:pic>
        <p:sp>
          <p:nvSpPr>
            <p:cNvPr id="111" name="Google Shape;111;p18"/>
            <p:cNvSpPr/>
            <p:nvPr/>
          </p:nvSpPr>
          <p:spPr>
            <a:xfrm>
              <a:off x="3857650" y="2725225"/>
              <a:ext cx="531900" cy="30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2" name="Google Shape;112;p18"/>
          <p:cNvSpPr txBox="1"/>
          <p:nvPr/>
        </p:nvSpPr>
        <p:spPr>
          <a:xfrm>
            <a:off x="8407450" y="3188659"/>
            <a:ext cx="1396200" cy="45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Clinton Dr</a:t>
            </a:r>
            <a:endParaRPr sz="800">
              <a:solidFill>
                <a:schemeClr val="dk2"/>
              </a:solidFill>
            </a:endParaRPr>
          </a:p>
        </p:txBody>
      </p:sp>
      <p:sp>
        <p:nvSpPr>
          <p:cNvPr id="113" name="Google Shape;113;p18"/>
          <p:cNvSpPr txBox="1"/>
          <p:nvPr/>
        </p:nvSpPr>
        <p:spPr>
          <a:xfrm>
            <a:off x="8407450" y="3056579"/>
            <a:ext cx="732600" cy="24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Eastway St</a:t>
            </a:r>
            <a:endParaRPr sz="800">
              <a:solidFill>
                <a:schemeClr val="dk2"/>
              </a:solidFill>
            </a:endParaRPr>
          </a:p>
        </p:txBody>
      </p:sp>
      <p:sp>
        <p:nvSpPr>
          <p:cNvPr id="114" name="Google Shape;114;p18"/>
          <p:cNvSpPr/>
          <p:nvPr/>
        </p:nvSpPr>
        <p:spPr>
          <a:xfrm>
            <a:off x="6627000" y="2109300"/>
            <a:ext cx="242400" cy="242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5" name="Google Shape;115;p18"/>
          <p:cNvCxnSpPr/>
          <p:nvPr/>
        </p:nvCxnSpPr>
        <p:spPr>
          <a:xfrm flipH="1">
            <a:off x="6833901" y="1865199"/>
            <a:ext cx="718200" cy="355800"/>
          </a:xfrm>
          <a:prstGeom prst="straightConnector1">
            <a:avLst/>
          </a:prstGeom>
          <a:noFill/>
          <a:ln cap="flat" cmpd="sng" w="28575">
            <a:solidFill>
              <a:schemeClr val="dk2"/>
            </a:solidFill>
            <a:prstDash val="solid"/>
            <a:round/>
            <a:headEnd len="med" w="med" type="none"/>
            <a:tailEnd len="med" w="med" type="triangle"/>
          </a:ln>
        </p:spPr>
      </p:cxnSp>
      <p:cxnSp>
        <p:nvCxnSpPr>
          <p:cNvPr id="116" name="Google Shape;116;p18"/>
          <p:cNvCxnSpPr>
            <a:stCxn id="114" idx="4"/>
          </p:cNvCxnSpPr>
          <p:nvPr/>
        </p:nvCxnSpPr>
        <p:spPr>
          <a:xfrm>
            <a:off x="6748200" y="2351700"/>
            <a:ext cx="0" cy="1893600"/>
          </a:xfrm>
          <a:prstGeom prst="straightConnector1">
            <a:avLst/>
          </a:prstGeom>
          <a:noFill/>
          <a:ln cap="flat" cmpd="sng" w="9525">
            <a:solidFill>
              <a:schemeClr val="dk2"/>
            </a:solidFill>
            <a:prstDash val="solid"/>
            <a:round/>
            <a:headEnd len="med" w="med" type="none"/>
            <a:tailEnd len="med" w="med" type="none"/>
          </a:ln>
        </p:spPr>
      </p:cxnSp>
      <p:sp>
        <p:nvSpPr>
          <p:cNvPr id="117" name="Google Shape;117;p18"/>
          <p:cNvSpPr txBox="1"/>
          <p:nvPr/>
        </p:nvSpPr>
        <p:spPr>
          <a:xfrm>
            <a:off x="7050350" y="795600"/>
            <a:ext cx="20529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latin typeface="Source Serif 4"/>
                <a:ea typeface="Source Serif 4"/>
                <a:cs typeface="Source Serif 4"/>
                <a:sym typeface="Source Serif 4"/>
              </a:rPr>
              <a:t>A la 1 p. m. (hora 13), el sensor de Clinton Drive registra un promedio de 58 µg/m³</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433500" y="109800"/>
            <a:ext cx="4364700" cy="7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Source Serif 4"/>
                <a:ea typeface="Source Serif 4"/>
                <a:cs typeface="Source Serif 4"/>
                <a:sym typeface="Source Serif 4"/>
              </a:rPr>
              <a:t>Los promedios de PM</a:t>
            </a:r>
            <a:r>
              <a:rPr b="1" baseline="-25000" lang="en" sz="2500">
                <a:latin typeface="Source Serif 4"/>
                <a:ea typeface="Source Serif 4"/>
                <a:cs typeface="Source Serif 4"/>
                <a:sym typeface="Source Serif 4"/>
              </a:rPr>
              <a:t>2.5 </a:t>
            </a:r>
            <a:r>
              <a:rPr b="1" lang="en" sz="2500">
                <a:latin typeface="Source Serif 4"/>
                <a:ea typeface="Source Serif 4"/>
                <a:cs typeface="Source Serif 4"/>
                <a:sym typeface="Source Serif 4"/>
              </a:rPr>
              <a:t>superan las directrices anuales (datos de 7 meses)</a:t>
            </a:r>
            <a:endParaRPr b="1" sz="2500">
              <a:latin typeface="Source Serif 4"/>
              <a:ea typeface="Source Serif 4"/>
              <a:cs typeface="Source Serif 4"/>
              <a:sym typeface="Source Serif 4"/>
            </a:endParaRPr>
          </a:p>
        </p:txBody>
      </p:sp>
      <p:pic>
        <p:nvPicPr>
          <p:cNvPr id="123" name="Google Shape;123;p19"/>
          <p:cNvPicPr preferRelativeResize="0"/>
          <p:nvPr/>
        </p:nvPicPr>
        <p:blipFill rotWithShape="1">
          <a:blip r:embed="rId3">
            <a:alphaModFix/>
          </a:blip>
          <a:srcRect b="0" l="23391" r="24465" t="0"/>
          <a:stretch/>
        </p:blipFill>
        <p:spPr>
          <a:xfrm>
            <a:off x="4798224" y="0"/>
            <a:ext cx="4345775" cy="5143500"/>
          </a:xfrm>
          <a:prstGeom prst="rect">
            <a:avLst/>
          </a:prstGeom>
          <a:noFill/>
          <a:ln>
            <a:noFill/>
          </a:ln>
        </p:spPr>
      </p:pic>
      <p:sp>
        <p:nvSpPr>
          <p:cNvPr id="124" name="Google Shape;124;p19"/>
          <p:cNvSpPr txBox="1"/>
          <p:nvPr/>
        </p:nvSpPr>
        <p:spPr>
          <a:xfrm>
            <a:off x="433500" y="3532075"/>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434343"/>
                </a:solidFill>
                <a:latin typeface="Source Serif 4"/>
                <a:ea typeface="Source Serif 4"/>
                <a:cs typeface="Source Serif 4"/>
                <a:sym typeface="Source Serif 4"/>
              </a:rPr>
              <a:t>WHO guideline</a:t>
            </a:r>
            <a:r>
              <a:rPr lang="en" sz="1800">
                <a:solidFill>
                  <a:srgbClr val="434343"/>
                </a:solidFill>
                <a:latin typeface="Source Serif 4"/>
                <a:ea typeface="Source Serif 4"/>
                <a:cs typeface="Source Serif 4"/>
                <a:sym typeface="Source Serif 4"/>
              </a:rPr>
              <a:t>: </a:t>
            </a:r>
            <a:endParaRPr sz="1800">
              <a:solidFill>
                <a:srgbClr val="434343"/>
              </a:solidFill>
              <a:latin typeface="Source Serif 4"/>
              <a:ea typeface="Source Serif 4"/>
              <a:cs typeface="Source Serif 4"/>
              <a:sym typeface="Source Serif 4"/>
            </a:endParaRPr>
          </a:p>
        </p:txBody>
      </p:sp>
      <p:pic>
        <p:nvPicPr>
          <p:cNvPr id="125" name="Google Shape;125;p19"/>
          <p:cNvPicPr preferRelativeResize="0"/>
          <p:nvPr/>
        </p:nvPicPr>
        <p:blipFill>
          <a:blip r:embed="rId4">
            <a:alphaModFix/>
          </a:blip>
          <a:stretch>
            <a:fillRect/>
          </a:stretch>
        </p:blipFill>
        <p:spPr>
          <a:xfrm>
            <a:off x="899100" y="1538825"/>
            <a:ext cx="3353300" cy="1912824"/>
          </a:xfrm>
          <a:prstGeom prst="rect">
            <a:avLst/>
          </a:prstGeom>
          <a:noFill/>
          <a:ln>
            <a:noFill/>
          </a:ln>
        </p:spPr>
      </p:pic>
      <p:pic>
        <p:nvPicPr>
          <p:cNvPr id="126" name="Google Shape;126;p19"/>
          <p:cNvPicPr preferRelativeResize="0"/>
          <p:nvPr/>
        </p:nvPicPr>
        <p:blipFill>
          <a:blip r:embed="rId5">
            <a:alphaModFix/>
          </a:blip>
          <a:stretch>
            <a:fillRect/>
          </a:stretch>
        </p:blipFill>
        <p:spPr>
          <a:xfrm>
            <a:off x="817025" y="3993775"/>
            <a:ext cx="3560749" cy="921125"/>
          </a:xfrm>
          <a:prstGeom prst="rect">
            <a:avLst/>
          </a:prstGeom>
          <a:noFill/>
          <a:ln>
            <a:noFill/>
          </a:ln>
        </p:spPr>
      </p:pic>
      <p:sp>
        <p:nvSpPr>
          <p:cNvPr id="127" name="Google Shape;127;p19"/>
          <p:cNvSpPr txBox="1"/>
          <p:nvPr/>
        </p:nvSpPr>
        <p:spPr>
          <a:xfrm>
            <a:off x="1289375" y="1608275"/>
            <a:ext cx="903600" cy="369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erif 4"/>
                <a:ea typeface="Source Serif 4"/>
                <a:cs typeface="Source Serif 4"/>
                <a:sym typeface="Source Serif 4"/>
              </a:rPr>
              <a:t>s</a:t>
            </a:r>
            <a:r>
              <a:rPr b="1" lang="en" sz="1200">
                <a:solidFill>
                  <a:schemeClr val="dk1"/>
                </a:solidFill>
                <a:latin typeface="Source Serif 4"/>
                <a:ea typeface="Source Serif 4"/>
                <a:cs typeface="Source Serif 4"/>
                <a:sym typeface="Source Serif 4"/>
              </a:rPr>
              <a:t>ensores</a:t>
            </a:r>
            <a:endParaRPr b="1" sz="1200">
              <a:solidFill>
                <a:schemeClr val="dk1"/>
              </a:solidFill>
              <a:latin typeface="Source Serif 4"/>
              <a:ea typeface="Source Serif 4"/>
              <a:cs typeface="Source Serif 4"/>
              <a:sym typeface="Source Serif 4"/>
            </a:endParaRPr>
          </a:p>
        </p:txBody>
      </p:sp>
      <p:sp>
        <p:nvSpPr>
          <p:cNvPr id="128" name="Google Shape;128;p19"/>
          <p:cNvSpPr txBox="1"/>
          <p:nvPr/>
        </p:nvSpPr>
        <p:spPr>
          <a:xfrm>
            <a:off x="2605100" y="1608275"/>
            <a:ext cx="1578300" cy="369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Source Serif 4"/>
                <a:ea typeface="Source Serif 4"/>
                <a:cs typeface="Source Serif 4"/>
                <a:sym typeface="Source Serif 4"/>
              </a:rPr>
              <a:t>Promedios de PM2.5</a:t>
            </a:r>
            <a:endParaRPr b="1" sz="1100">
              <a:solidFill>
                <a:schemeClr val="dk1"/>
              </a:solidFill>
              <a:latin typeface="Source Serif 4"/>
              <a:ea typeface="Source Serif 4"/>
              <a:cs typeface="Source Serif 4"/>
              <a:sym typeface="Source Serif 4"/>
            </a:endParaRPr>
          </a:p>
        </p:txBody>
      </p:sp>
      <p:sp>
        <p:nvSpPr>
          <p:cNvPr id="129" name="Google Shape;129;p19"/>
          <p:cNvSpPr txBox="1"/>
          <p:nvPr/>
        </p:nvSpPr>
        <p:spPr>
          <a:xfrm>
            <a:off x="875825" y="4074200"/>
            <a:ext cx="1113900" cy="258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Source Serif 4"/>
                <a:ea typeface="Source Serif 4"/>
                <a:cs typeface="Source Serif 4"/>
                <a:sym typeface="Source Serif 4"/>
              </a:rPr>
              <a:t>contaminante</a:t>
            </a:r>
            <a:endParaRPr sz="1100">
              <a:solidFill>
                <a:schemeClr val="dk1"/>
              </a:solidFill>
              <a:latin typeface="Source Serif 4"/>
              <a:ea typeface="Source Serif 4"/>
              <a:cs typeface="Source Serif 4"/>
              <a:sym typeface="Source Serif 4"/>
            </a:endParaRPr>
          </a:p>
        </p:txBody>
      </p:sp>
      <p:sp>
        <p:nvSpPr>
          <p:cNvPr id="130" name="Google Shape;130;p19"/>
          <p:cNvSpPr txBox="1"/>
          <p:nvPr/>
        </p:nvSpPr>
        <p:spPr>
          <a:xfrm>
            <a:off x="2140050" y="4033700"/>
            <a:ext cx="951600" cy="3699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Source Serif 4"/>
                <a:ea typeface="Source Serif 4"/>
                <a:cs typeface="Source Serif 4"/>
                <a:sym typeface="Source Serif 4"/>
              </a:rPr>
              <a:t>anual</a:t>
            </a:r>
            <a:endParaRPr sz="1100">
              <a:solidFill>
                <a:schemeClr val="dk1"/>
              </a:solidFill>
              <a:latin typeface="Source Serif 4"/>
              <a:ea typeface="Source Serif 4"/>
              <a:cs typeface="Source Serif 4"/>
              <a:sym typeface="Source Serif 4"/>
            </a:endParaRPr>
          </a:p>
        </p:txBody>
      </p:sp>
      <p:sp>
        <p:nvSpPr>
          <p:cNvPr id="131" name="Google Shape;131;p19"/>
          <p:cNvSpPr txBox="1"/>
          <p:nvPr/>
        </p:nvSpPr>
        <p:spPr>
          <a:xfrm>
            <a:off x="3300800" y="4074200"/>
            <a:ext cx="951600" cy="2751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Source Serif 4"/>
                <a:ea typeface="Source Serif 4"/>
                <a:cs typeface="Source Serif 4"/>
                <a:sym typeface="Source Serif 4"/>
              </a:rPr>
              <a:t>24 horas</a:t>
            </a:r>
            <a:endParaRPr sz="1100">
              <a:solidFill>
                <a:schemeClr val="dk1"/>
              </a:solidFill>
              <a:latin typeface="Source Serif 4"/>
              <a:ea typeface="Source Serif 4"/>
              <a:cs typeface="Source Serif 4"/>
              <a:sym typeface="Source Serif 4"/>
            </a:endParaRPr>
          </a:p>
          <a:p>
            <a:pPr indent="0" lvl="0" marL="0" rtl="0" algn="l">
              <a:spcBef>
                <a:spcPts val="0"/>
              </a:spcBef>
              <a:spcAft>
                <a:spcPts val="0"/>
              </a:spcAft>
              <a:buNone/>
            </a:pPr>
            <a:r>
              <a:t/>
            </a:r>
            <a:endParaRPr>
              <a:solidFill>
                <a:schemeClr val="dk1"/>
              </a:solidFill>
              <a:latin typeface="Source Serif 4"/>
              <a:ea typeface="Source Serif 4"/>
              <a:cs typeface="Source Serif 4"/>
              <a:sym typeface="Source Serif 4"/>
            </a:endParaRPr>
          </a:p>
        </p:txBody>
      </p:sp>
      <p:sp>
        <p:nvSpPr>
          <p:cNvPr id="132" name="Google Shape;132;p19"/>
          <p:cNvSpPr txBox="1"/>
          <p:nvPr/>
        </p:nvSpPr>
        <p:spPr>
          <a:xfrm>
            <a:off x="4754025" y="61150"/>
            <a:ext cx="4302000" cy="7557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Source Serif 4"/>
                <a:ea typeface="Source Serif 4"/>
                <a:cs typeface="Source Serif 4"/>
                <a:sym typeface="Source Serif 4"/>
              </a:rPr>
              <a:t>Diagrama de caja de los niveles promedio diarios de PM</a:t>
            </a:r>
            <a:r>
              <a:rPr b="1" baseline="-25000" lang="en" sz="1800">
                <a:solidFill>
                  <a:schemeClr val="dk2"/>
                </a:solidFill>
                <a:latin typeface="Source Serif 4"/>
                <a:ea typeface="Source Serif 4"/>
                <a:cs typeface="Source Serif 4"/>
                <a:sym typeface="Source Serif 4"/>
              </a:rPr>
              <a:t>2.5</a:t>
            </a:r>
            <a:endParaRPr b="1" baseline="-25000" sz="1800">
              <a:solidFill>
                <a:schemeClr val="dk2"/>
              </a:solidFill>
              <a:latin typeface="Source Serif 4"/>
              <a:ea typeface="Source Serif 4"/>
              <a:cs typeface="Source Serif 4"/>
              <a:sym typeface="Source Serif 4"/>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nvSpPr>
        <p:spPr>
          <a:xfrm>
            <a:off x="433500" y="3532075"/>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434343"/>
                </a:solidFill>
                <a:latin typeface="Source Serif 4"/>
                <a:ea typeface="Source Serif 4"/>
                <a:cs typeface="Source Serif 4"/>
                <a:sym typeface="Source Serif 4"/>
              </a:rPr>
              <a:t>WHO guideline</a:t>
            </a:r>
            <a:r>
              <a:rPr lang="en" sz="1800">
                <a:solidFill>
                  <a:srgbClr val="434343"/>
                </a:solidFill>
                <a:latin typeface="Source Serif 4"/>
                <a:ea typeface="Source Serif 4"/>
                <a:cs typeface="Source Serif 4"/>
                <a:sym typeface="Source Serif 4"/>
              </a:rPr>
              <a:t>: </a:t>
            </a:r>
            <a:endParaRPr sz="1800">
              <a:solidFill>
                <a:srgbClr val="434343"/>
              </a:solidFill>
              <a:latin typeface="Source Serif 4"/>
              <a:ea typeface="Source Serif 4"/>
              <a:cs typeface="Source Serif 4"/>
              <a:sym typeface="Source Serif 4"/>
            </a:endParaRPr>
          </a:p>
        </p:txBody>
      </p:sp>
      <p:pic>
        <p:nvPicPr>
          <p:cNvPr id="138" name="Google Shape;138;p20"/>
          <p:cNvPicPr preferRelativeResize="0"/>
          <p:nvPr/>
        </p:nvPicPr>
        <p:blipFill rotWithShape="1">
          <a:blip r:embed="rId3">
            <a:alphaModFix/>
          </a:blip>
          <a:srcRect b="0" l="23395" r="24464" t="0"/>
          <a:stretch/>
        </p:blipFill>
        <p:spPr>
          <a:xfrm>
            <a:off x="4798225" y="0"/>
            <a:ext cx="4345775" cy="5143500"/>
          </a:xfrm>
          <a:prstGeom prst="rect">
            <a:avLst/>
          </a:prstGeom>
          <a:noFill/>
          <a:ln>
            <a:noFill/>
          </a:ln>
        </p:spPr>
      </p:pic>
      <p:pic>
        <p:nvPicPr>
          <p:cNvPr id="139" name="Google Shape;139;p20"/>
          <p:cNvPicPr preferRelativeResize="0"/>
          <p:nvPr/>
        </p:nvPicPr>
        <p:blipFill>
          <a:blip r:embed="rId4">
            <a:alphaModFix/>
          </a:blip>
          <a:stretch>
            <a:fillRect/>
          </a:stretch>
        </p:blipFill>
        <p:spPr>
          <a:xfrm>
            <a:off x="701925" y="3930650"/>
            <a:ext cx="3681701" cy="913975"/>
          </a:xfrm>
          <a:prstGeom prst="rect">
            <a:avLst/>
          </a:prstGeom>
          <a:noFill/>
          <a:ln>
            <a:noFill/>
          </a:ln>
        </p:spPr>
      </p:pic>
      <p:pic>
        <p:nvPicPr>
          <p:cNvPr id="140" name="Google Shape;140;p20"/>
          <p:cNvPicPr preferRelativeResize="0"/>
          <p:nvPr/>
        </p:nvPicPr>
        <p:blipFill>
          <a:blip r:embed="rId5">
            <a:alphaModFix/>
          </a:blip>
          <a:stretch>
            <a:fillRect/>
          </a:stretch>
        </p:blipFill>
        <p:spPr>
          <a:xfrm>
            <a:off x="899100" y="1820775"/>
            <a:ext cx="3304599" cy="1792375"/>
          </a:xfrm>
          <a:prstGeom prst="rect">
            <a:avLst/>
          </a:prstGeom>
          <a:noFill/>
          <a:ln>
            <a:noFill/>
          </a:ln>
        </p:spPr>
      </p:pic>
      <p:sp>
        <p:nvSpPr>
          <p:cNvPr id="141" name="Google Shape;141;p20"/>
          <p:cNvSpPr txBox="1"/>
          <p:nvPr/>
        </p:nvSpPr>
        <p:spPr>
          <a:xfrm>
            <a:off x="1225875" y="1872875"/>
            <a:ext cx="903600" cy="369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erif 4"/>
                <a:ea typeface="Source Serif 4"/>
                <a:cs typeface="Source Serif 4"/>
                <a:sym typeface="Source Serif 4"/>
              </a:rPr>
              <a:t>sensores</a:t>
            </a:r>
            <a:endParaRPr b="1" sz="1200">
              <a:solidFill>
                <a:schemeClr val="dk1"/>
              </a:solidFill>
              <a:latin typeface="Source Serif 4"/>
              <a:ea typeface="Source Serif 4"/>
              <a:cs typeface="Source Serif 4"/>
              <a:sym typeface="Source Serif 4"/>
            </a:endParaRPr>
          </a:p>
        </p:txBody>
      </p:sp>
      <p:sp>
        <p:nvSpPr>
          <p:cNvPr id="142" name="Google Shape;142;p20"/>
          <p:cNvSpPr txBox="1"/>
          <p:nvPr/>
        </p:nvSpPr>
        <p:spPr>
          <a:xfrm>
            <a:off x="2583050" y="1872875"/>
            <a:ext cx="1578300" cy="369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Source Serif 4"/>
                <a:ea typeface="Source Serif 4"/>
                <a:cs typeface="Source Serif 4"/>
                <a:sym typeface="Source Serif 4"/>
              </a:rPr>
              <a:t>Promedios de PM2.5</a:t>
            </a:r>
            <a:endParaRPr b="1" sz="1100">
              <a:solidFill>
                <a:schemeClr val="dk1"/>
              </a:solidFill>
              <a:latin typeface="Source Serif 4"/>
              <a:ea typeface="Source Serif 4"/>
              <a:cs typeface="Source Serif 4"/>
              <a:sym typeface="Source Serif 4"/>
            </a:endParaRPr>
          </a:p>
        </p:txBody>
      </p:sp>
      <p:sp>
        <p:nvSpPr>
          <p:cNvPr id="143" name="Google Shape;143;p20"/>
          <p:cNvSpPr txBox="1"/>
          <p:nvPr/>
        </p:nvSpPr>
        <p:spPr>
          <a:xfrm>
            <a:off x="753525" y="3976825"/>
            <a:ext cx="1136400" cy="258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Source Serif 4"/>
                <a:ea typeface="Source Serif 4"/>
                <a:cs typeface="Source Serif 4"/>
                <a:sym typeface="Source Serif 4"/>
              </a:rPr>
              <a:t>contaminante</a:t>
            </a:r>
            <a:endParaRPr sz="1100">
              <a:solidFill>
                <a:schemeClr val="dk1"/>
              </a:solidFill>
              <a:latin typeface="Source Serif 4"/>
              <a:ea typeface="Source Serif 4"/>
              <a:cs typeface="Source Serif 4"/>
              <a:sym typeface="Source Serif 4"/>
            </a:endParaRPr>
          </a:p>
        </p:txBody>
      </p:sp>
      <p:sp>
        <p:nvSpPr>
          <p:cNvPr id="144" name="Google Shape;144;p20"/>
          <p:cNvSpPr txBox="1"/>
          <p:nvPr/>
        </p:nvSpPr>
        <p:spPr>
          <a:xfrm>
            <a:off x="2066975" y="3997375"/>
            <a:ext cx="951600" cy="3699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Source Serif 4"/>
                <a:ea typeface="Source Serif 4"/>
                <a:cs typeface="Source Serif 4"/>
                <a:sym typeface="Source Serif 4"/>
              </a:rPr>
              <a:t>anual</a:t>
            </a:r>
            <a:endParaRPr sz="1100">
              <a:solidFill>
                <a:schemeClr val="dk1"/>
              </a:solidFill>
              <a:latin typeface="Source Serif 4"/>
              <a:ea typeface="Source Serif 4"/>
              <a:cs typeface="Source Serif 4"/>
              <a:sym typeface="Source Serif 4"/>
            </a:endParaRPr>
          </a:p>
        </p:txBody>
      </p:sp>
      <p:sp>
        <p:nvSpPr>
          <p:cNvPr id="145" name="Google Shape;145;p20"/>
          <p:cNvSpPr txBox="1"/>
          <p:nvPr/>
        </p:nvSpPr>
        <p:spPr>
          <a:xfrm>
            <a:off x="3300800" y="3968575"/>
            <a:ext cx="951600" cy="2751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Source Serif 4"/>
                <a:ea typeface="Source Serif 4"/>
                <a:cs typeface="Source Serif 4"/>
                <a:sym typeface="Source Serif 4"/>
              </a:rPr>
              <a:t>24 horas</a:t>
            </a:r>
            <a:endParaRPr sz="1100">
              <a:solidFill>
                <a:schemeClr val="dk1"/>
              </a:solidFill>
              <a:latin typeface="Source Serif 4"/>
              <a:ea typeface="Source Serif 4"/>
              <a:cs typeface="Source Serif 4"/>
              <a:sym typeface="Source Serif 4"/>
            </a:endParaRPr>
          </a:p>
          <a:p>
            <a:pPr indent="0" lvl="0" marL="0" rtl="0" algn="l">
              <a:spcBef>
                <a:spcPts val="0"/>
              </a:spcBef>
              <a:spcAft>
                <a:spcPts val="0"/>
              </a:spcAft>
              <a:buNone/>
            </a:pPr>
            <a:r>
              <a:t/>
            </a:r>
            <a:endParaRPr>
              <a:solidFill>
                <a:schemeClr val="dk1"/>
              </a:solidFill>
              <a:latin typeface="Source Serif 4"/>
              <a:ea typeface="Source Serif 4"/>
              <a:cs typeface="Source Serif 4"/>
              <a:sym typeface="Source Serif 4"/>
            </a:endParaRPr>
          </a:p>
        </p:txBody>
      </p:sp>
      <p:sp>
        <p:nvSpPr>
          <p:cNvPr id="146" name="Google Shape;146;p20"/>
          <p:cNvSpPr txBox="1"/>
          <p:nvPr>
            <p:ph type="title"/>
          </p:nvPr>
        </p:nvSpPr>
        <p:spPr>
          <a:xfrm>
            <a:off x="182025" y="109800"/>
            <a:ext cx="4921200" cy="7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Source Serif 4"/>
                <a:ea typeface="Source Serif 4"/>
                <a:cs typeface="Source Serif 4"/>
                <a:sym typeface="Source Serif 4"/>
              </a:rPr>
              <a:t>Los promedios de PM10 superan las recomendaciones diarias y anuales (datos de 7 meses)</a:t>
            </a:r>
            <a:endParaRPr b="1" sz="2500">
              <a:latin typeface="Source Serif 4"/>
              <a:ea typeface="Source Serif 4"/>
              <a:cs typeface="Source Serif 4"/>
              <a:sym typeface="Source Serif 4"/>
            </a:endParaRPr>
          </a:p>
        </p:txBody>
      </p:sp>
      <p:sp>
        <p:nvSpPr>
          <p:cNvPr id="147" name="Google Shape;147;p20"/>
          <p:cNvSpPr txBox="1"/>
          <p:nvPr/>
        </p:nvSpPr>
        <p:spPr>
          <a:xfrm>
            <a:off x="4965700" y="61150"/>
            <a:ext cx="4090200" cy="7557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Source Serif 4"/>
                <a:ea typeface="Source Serif 4"/>
                <a:cs typeface="Source Serif 4"/>
                <a:sym typeface="Source Serif 4"/>
              </a:rPr>
              <a:t>Diagrama de caja de los niveles promedio diarios de PM</a:t>
            </a:r>
            <a:r>
              <a:rPr b="1" baseline="-25000" lang="en" sz="1800">
                <a:solidFill>
                  <a:schemeClr val="dk2"/>
                </a:solidFill>
                <a:latin typeface="Source Serif 4"/>
                <a:ea typeface="Source Serif 4"/>
                <a:cs typeface="Source Serif 4"/>
                <a:sym typeface="Source Serif 4"/>
              </a:rPr>
              <a:t>10</a:t>
            </a:r>
            <a:endParaRPr b="1" baseline="-25000" sz="1800">
              <a:solidFill>
                <a:schemeClr val="dk2"/>
              </a:solidFill>
              <a:latin typeface="Source Serif 4"/>
              <a:ea typeface="Source Serif 4"/>
              <a:cs typeface="Source Serif 4"/>
              <a:sym typeface="Source Serif 4"/>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type="title"/>
          </p:nvPr>
        </p:nvSpPr>
        <p:spPr>
          <a:xfrm>
            <a:off x="433500" y="109800"/>
            <a:ext cx="4743900" cy="7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latin typeface="Source Serif 4"/>
                <a:ea typeface="Source Serif 4"/>
                <a:cs typeface="Source Serif 4"/>
                <a:sym typeface="Source Serif 4"/>
              </a:rPr>
              <a:t>¿Cuándo es peor el PM10?</a:t>
            </a:r>
            <a:endParaRPr b="1" sz="2800">
              <a:latin typeface="Source Serif 4"/>
              <a:ea typeface="Source Serif 4"/>
              <a:cs typeface="Source Serif 4"/>
              <a:sym typeface="Source Serif 4"/>
            </a:endParaRPr>
          </a:p>
        </p:txBody>
      </p:sp>
      <p:sp>
        <p:nvSpPr>
          <p:cNvPr id="153" name="Google Shape;153;p21"/>
          <p:cNvSpPr txBox="1"/>
          <p:nvPr/>
        </p:nvSpPr>
        <p:spPr>
          <a:xfrm>
            <a:off x="461375" y="1261725"/>
            <a:ext cx="4167000" cy="26475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Font typeface="Source Serif 4"/>
              <a:buChar char="-"/>
            </a:pPr>
            <a:r>
              <a:rPr lang="en" sz="1600">
                <a:solidFill>
                  <a:schemeClr val="dk2"/>
                </a:solidFill>
                <a:latin typeface="Source Serif 4"/>
                <a:ea typeface="Source Serif 4"/>
                <a:cs typeface="Source Serif 4"/>
                <a:sym typeface="Source Serif 4"/>
              </a:rPr>
              <a:t>La PM10 es peor durante los días laborables y las horas de la mañana.</a:t>
            </a:r>
            <a:endParaRPr sz="1600">
              <a:solidFill>
                <a:schemeClr val="dk2"/>
              </a:solidFill>
              <a:latin typeface="Source Serif 4"/>
              <a:ea typeface="Source Serif 4"/>
              <a:cs typeface="Source Serif 4"/>
              <a:sym typeface="Source Serif 4"/>
            </a:endParaRPr>
          </a:p>
          <a:p>
            <a:pPr indent="-330200" lvl="0" marL="457200" rtl="0" algn="l">
              <a:spcBef>
                <a:spcPts val="0"/>
              </a:spcBef>
              <a:spcAft>
                <a:spcPts val="0"/>
              </a:spcAft>
              <a:buClr>
                <a:schemeClr val="dk2"/>
              </a:buClr>
              <a:buSzPts val="1600"/>
              <a:buFont typeface="Source Serif 4"/>
              <a:buChar char="-"/>
            </a:pPr>
            <a:r>
              <a:rPr lang="en" sz="1600">
                <a:solidFill>
                  <a:schemeClr val="dk2"/>
                </a:solidFill>
                <a:latin typeface="Source Serif 4"/>
                <a:ea typeface="Source Serif 4"/>
                <a:cs typeface="Source Serif 4"/>
                <a:sym typeface="Source Serif 4"/>
              </a:rPr>
              <a:t>Las líneas más oscuras representan el promedio y el sombreado más claro muestra la variación.</a:t>
            </a:r>
            <a:endParaRPr sz="1600">
              <a:solidFill>
                <a:schemeClr val="dk2"/>
              </a:solidFill>
              <a:latin typeface="Source Serif 4"/>
              <a:ea typeface="Source Serif 4"/>
              <a:cs typeface="Source Serif 4"/>
              <a:sym typeface="Source Serif 4"/>
            </a:endParaRPr>
          </a:p>
          <a:p>
            <a:pPr indent="-330200" lvl="0" marL="457200" rtl="0" algn="l">
              <a:spcBef>
                <a:spcPts val="0"/>
              </a:spcBef>
              <a:spcAft>
                <a:spcPts val="0"/>
              </a:spcAft>
              <a:buClr>
                <a:schemeClr val="dk2"/>
              </a:buClr>
              <a:buSzPts val="1600"/>
              <a:buFont typeface="Source Serif 4"/>
              <a:buChar char="-"/>
            </a:pPr>
            <a:r>
              <a:rPr lang="en" sz="1600">
                <a:solidFill>
                  <a:schemeClr val="dk2"/>
                </a:solidFill>
                <a:latin typeface="Source Serif 4"/>
                <a:ea typeface="Source Serif 4"/>
                <a:cs typeface="Source Serif 4"/>
                <a:sym typeface="Source Serif 4"/>
              </a:rPr>
              <a:t>Un aspecto a tener en cuenta es la alta variación dentro de la temporada de invierno, causada principalmente por un evento específico de PM10.</a:t>
            </a:r>
            <a:endParaRPr sz="1600">
              <a:solidFill>
                <a:schemeClr val="dk2"/>
              </a:solidFill>
              <a:latin typeface="Source Serif 4"/>
              <a:ea typeface="Source Serif 4"/>
              <a:cs typeface="Source Serif 4"/>
              <a:sym typeface="Source Serif 4"/>
            </a:endParaRPr>
          </a:p>
        </p:txBody>
      </p:sp>
      <p:pic>
        <p:nvPicPr>
          <p:cNvPr id="154" name="Google Shape;154;p21"/>
          <p:cNvPicPr preferRelativeResize="0"/>
          <p:nvPr/>
        </p:nvPicPr>
        <p:blipFill rotWithShape="1">
          <a:blip r:embed="rId3">
            <a:alphaModFix/>
          </a:blip>
          <a:srcRect b="0" l="-1070" r="1069" t="0"/>
          <a:stretch/>
        </p:blipFill>
        <p:spPr>
          <a:xfrm>
            <a:off x="5012004" y="179925"/>
            <a:ext cx="4166932" cy="2571600"/>
          </a:xfrm>
          <a:prstGeom prst="rect">
            <a:avLst/>
          </a:prstGeom>
          <a:noFill/>
          <a:ln>
            <a:noFill/>
          </a:ln>
        </p:spPr>
      </p:pic>
      <p:pic>
        <p:nvPicPr>
          <p:cNvPr id="155" name="Google Shape;155;p21"/>
          <p:cNvPicPr preferRelativeResize="0"/>
          <p:nvPr/>
        </p:nvPicPr>
        <p:blipFill rotWithShape="1">
          <a:blip r:embed="rId4">
            <a:alphaModFix/>
          </a:blip>
          <a:srcRect b="0" l="0" r="5015" t="0"/>
          <a:stretch/>
        </p:blipFill>
        <p:spPr>
          <a:xfrm>
            <a:off x="5046950" y="2692800"/>
            <a:ext cx="4097051" cy="24507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2045250" y="2150850"/>
            <a:ext cx="50535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a:latin typeface="Source Serif 4"/>
                <a:ea typeface="Source Serif 4"/>
                <a:cs typeface="Source Serif 4"/>
                <a:sym typeface="Source Serif 4"/>
              </a:rPr>
              <a:t>Eventos de PM</a:t>
            </a:r>
            <a:r>
              <a:rPr b="1" baseline="-25000" lang="en">
                <a:latin typeface="Source Serif 4"/>
                <a:ea typeface="Source Serif 4"/>
                <a:cs typeface="Source Serif 4"/>
                <a:sym typeface="Source Serif 4"/>
              </a:rPr>
              <a:t>10</a:t>
            </a:r>
            <a:r>
              <a:rPr b="1" lang="en">
                <a:latin typeface="Source Serif 4"/>
                <a:ea typeface="Source Serif 4"/>
                <a:cs typeface="Source Serif 4"/>
                <a:sym typeface="Source Serif 4"/>
              </a:rPr>
              <a:t> en Diciembre de 2024</a:t>
            </a:r>
            <a:endParaRPr b="1">
              <a:latin typeface="Source Serif 4"/>
              <a:ea typeface="Source Serif 4"/>
              <a:cs typeface="Source Serif 4"/>
              <a:sym typeface="Source Serif 4"/>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title"/>
          </p:nvPr>
        </p:nvSpPr>
        <p:spPr>
          <a:xfrm>
            <a:off x="433500" y="109800"/>
            <a:ext cx="8437500" cy="7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Source Serif 4"/>
                <a:ea typeface="Source Serif 4"/>
                <a:cs typeface="Source Serif 4"/>
                <a:sym typeface="Source Serif 4"/>
              </a:rPr>
              <a:t>¿Cuándo fue el peor momento de PM</a:t>
            </a:r>
            <a:r>
              <a:rPr b="1" baseline="-25000" lang="en" sz="2900">
                <a:latin typeface="Source Serif 4"/>
                <a:ea typeface="Source Serif 4"/>
                <a:cs typeface="Source Serif 4"/>
                <a:sym typeface="Source Serif 4"/>
              </a:rPr>
              <a:t>10</a:t>
            </a:r>
            <a:r>
              <a:rPr b="1" lang="en" sz="3000">
                <a:latin typeface="Source Serif 4"/>
                <a:ea typeface="Source Serif 4"/>
                <a:cs typeface="Source Serif 4"/>
                <a:sym typeface="Source Serif 4"/>
              </a:rPr>
              <a:t>?</a:t>
            </a:r>
            <a:endParaRPr b="1" sz="3000">
              <a:latin typeface="Source Serif 4"/>
              <a:ea typeface="Source Serif 4"/>
              <a:cs typeface="Source Serif 4"/>
              <a:sym typeface="Source Serif 4"/>
            </a:endParaRPr>
          </a:p>
        </p:txBody>
      </p:sp>
      <p:sp>
        <p:nvSpPr>
          <p:cNvPr id="166" name="Google Shape;166;p23"/>
          <p:cNvSpPr txBox="1"/>
          <p:nvPr/>
        </p:nvSpPr>
        <p:spPr>
          <a:xfrm>
            <a:off x="461375" y="830000"/>
            <a:ext cx="3676500" cy="18471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Font typeface="Source Serif 4"/>
              <a:buChar char="-"/>
            </a:pPr>
            <a:r>
              <a:rPr lang="en" sz="1800">
                <a:solidFill>
                  <a:schemeClr val="dk2"/>
                </a:solidFill>
                <a:latin typeface="Source Serif 4"/>
                <a:ea typeface="Source Serif 4"/>
                <a:cs typeface="Source Serif 4"/>
                <a:sym typeface="Source Serif 4"/>
              </a:rPr>
              <a:t>Promedio diario de PM10 en relación con los demás días.</a:t>
            </a:r>
            <a:endParaRPr sz="1800">
              <a:solidFill>
                <a:schemeClr val="dk2"/>
              </a:solidFill>
              <a:latin typeface="Source Serif 4"/>
              <a:ea typeface="Source Serif 4"/>
              <a:cs typeface="Source Serif 4"/>
              <a:sym typeface="Source Serif 4"/>
            </a:endParaRPr>
          </a:p>
          <a:p>
            <a:pPr indent="-330200" lvl="0" marL="457200" rtl="0" algn="l">
              <a:spcBef>
                <a:spcPts val="0"/>
              </a:spcBef>
              <a:spcAft>
                <a:spcPts val="0"/>
              </a:spcAft>
              <a:buClr>
                <a:schemeClr val="dk2"/>
              </a:buClr>
              <a:buSzPts val="1600"/>
              <a:buFont typeface="Source Serif 4"/>
              <a:buChar char="-"/>
            </a:pPr>
            <a:r>
              <a:rPr lang="en" sz="1800">
                <a:solidFill>
                  <a:schemeClr val="dk2"/>
                </a:solidFill>
                <a:latin typeface="Source Serif 4"/>
                <a:ea typeface="Source Serif 4"/>
                <a:cs typeface="Source Serif 4"/>
                <a:sym typeface="Source Serif 4"/>
              </a:rPr>
              <a:t>Hay dos días en 7 meses que han superado ese límite de 24 horas.</a:t>
            </a:r>
            <a:endParaRPr sz="1800">
              <a:solidFill>
                <a:schemeClr val="dk2"/>
              </a:solidFill>
              <a:latin typeface="Source Serif 4"/>
              <a:ea typeface="Source Serif 4"/>
              <a:cs typeface="Source Serif 4"/>
              <a:sym typeface="Source Serif 4"/>
            </a:endParaRPr>
          </a:p>
        </p:txBody>
      </p:sp>
      <p:pic>
        <p:nvPicPr>
          <p:cNvPr id="167" name="Google Shape;167;p23"/>
          <p:cNvPicPr preferRelativeResize="0"/>
          <p:nvPr/>
        </p:nvPicPr>
        <p:blipFill>
          <a:blip r:embed="rId3">
            <a:alphaModFix/>
          </a:blip>
          <a:stretch>
            <a:fillRect/>
          </a:stretch>
        </p:blipFill>
        <p:spPr>
          <a:xfrm>
            <a:off x="4245082" y="865500"/>
            <a:ext cx="4898918" cy="4278000"/>
          </a:xfrm>
          <a:prstGeom prst="rect">
            <a:avLst/>
          </a:prstGeom>
          <a:noFill/>
          <a:ln>
            <a:noFill/>
          </a:ln>
        </p:spPr>
      </p:pic>
      <p:sp>
        <p:nvSpPr>
          <p:cNvPr id="168" name="Google Shape;168;p23"/>
          <p:cNvSpPr/>
          <p:nvPr/>
        </p:nvSpPr>
        <p:spPr>
          <a:xfrm>
            <a:off x="7270801" y="2677094"/>
            <a:ext cx="478500" cy="478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9" name="Google Shape;169;p23"/>
          <p:cNvCxnSpPr/>
          <p:nvPr/>
        </p:nvCxnSpPr>
        <p:spPr>
          <a:xfrm rot="10800000">
            <a:off x="7510107" y="3155627"/>
            <a:ext cx="0" cy="661200"/>
          </a:xfrm>
          <a:prstGeom prst="straightConnector1">
            <a:avLst/>
          </a:prstGeom>
          <a:noFill/>
          <a:ln cap="flat" cmpd="sng" w="9525">
            <a:solidFill>
              <a:schemeClr val="dk2"/>
            </a:solidFill>
            <a:prstDash val="solid"/>
            <a:round/>
            <a:headEnd len="med" w="med" type="none"/>
            <a:tailEnd len="med" w="med" type="triangle"/>
          </a:ln>
        </p:spPr>
      </p:cxnSp>
      <p:sp>
        <p:nvSpPr>
          <p:cNvPr id="170" name="Google Shape;170;p23"/>
          <p:cNvSpPr txBox="1"/>
          <p:nvPr/>
        </p:nvSpPr>
        <p:spPr>
          <a:xfrm>
            <a:off x="6876825" y="3740625"/>
            <a:ext cx="14445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latin typeface="Source Serif 4"/>
                <a:ea typeface="Source Serif 4"/>
                <a:cs typeface="Source Serif 4"/>
                <a:sym typeface="Source Serif 4"/>
              </a:rPr>
              <a:t>Estos son los dos días que destacan</a:t>
            </a:r>
            <a:endParaRPr sz="1500">
              <a:solidFill>
                <a:schemeClr val="dk2"/>
              </a:solidFill>
            </a:endParaRPr>
          </a:p>
        </p:txBody>
      </p:sp>
      <p:pic>
        <p:nvPicPr>
          <p:cNvPr id="171" name="Google Shape;171;p23"/>
          <p:cNvPicPr preferRelativeResize="0"/>
          <p:nvPr/>
        </p:nvPicPr>
        <p:blipFill>
          <a:blip r:embed="rId4">
            <a:alphaModFix/>
          </a:blip>
          <a:stretch>
            <a:fillRect/>
          </a:stretch>
        </p:blipFill>
        <p:spPr>
          <a:xfrm>
            <a:off x="842788" y="3155598"/>
            <a:ext cx="2913677" cy="1657075"/>
          </a:xfrm>
          <a:prstGeom prst="rect">
            <a:avLst/>
          </a:prstGeom>
          <a:noFill/>
          <a:ln>
            <a:noFill/>
          </a:ln>
        </p:spPr>
      </p:pic>
      <p:sp>
        <p:nvSpPr>
          <p:cNvPr id="172" name="Google Shape;172;p23"/>
          <p:cNvSpPr txBox="1"/>
          <p:nvPr/>
        </p:nvSpPr>
        <p:spPr>
          <a:xfrm>
            <a:off x="461375" y="26855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434343"/>
                </a:solidFill>
                <a:latin typeface="Source Serif 4"/>
                <a:ea typeface="Source Serif 4"/>
                <a:cs typeface="Source Serif 4"/>
                <a:sym typeface="Source Serif 4"/>
              </a:rPr>
              <a:t>Air Quality G</a:t>
            </a:r>
            <a:r>
              <a:rPr b="1" lang="en" sz="1800">
                <a:solidFill>
                  <a:srgbClr val="434343"/>
                </a:solidFill>
                <a:latin typeface="Source Serif 4"/>
                <a:ea typeface="Source Serif 4"/>
                <a:cs typeface="Source Serif 4"/>
                <a:sym typeface="Source Serif 4"/>
              </a:rPr>
              <a:t>uidelines</a:t>
            </a:r>
            <a:r>
              <a:rPr lang="en" sz="1800">
                <a:solidFill>
                  <a:srgbClr val="434343"/>
                </a:solidFill>
                <a:latin typeface="Source Serif 4"/>
                <a:ea typeface="Source Serif 4"/>
                <a:cs typeface="Source Serif 4"/>
                <a:sym typeface="Source Serif 4"/>
              </a:rPr>
              <a:t>: </a:t>
            </a:r>
            <a:endParaRPr sz="1800">
              <a:solidFill>
                <a:srgbClr val="434343"/>
              </a:solidFill>
              <a:latin typeface="Source Serif 4"/>
              <a:ea typeface="Source Serif 4"/>
              <a:cs typeface="Source Serif 4"/>
              <a:sym typeface="Source Serif 4"/>
            </a:endParaRPr>
          </a:p>
        </p:txBody>
      </p:sp>
      <p:sp>
        <p:nvSpPr>
          <p:cNvPr id="173" name="Google Shape;173;p23"/>
          <p:cNvSpPr txBox="1"/>
          <p:nvPr/>
        </p:nvSpPr>
        <p:spPr>
          <a:xfrm>
            <a:off x="1007525" y="3208525"/>
            <a:ext cx="1136400" cy="258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Source Serif 4"/>
                <a:ea typeface="Source Serif 4"/>
                <a:cs typeface="Source Serif 4"/>
                <a:sym typeface="Source Serif 4"/>
              </a:rPr>
              <a:t>contaminante</a:t>
            </a:r>
            <a:endParaRPr sz="1100">
              <a:solidFill>
                <a:schemeClr val="dk1"/>
              </a:solidFill>
              <a:latin typeface="Source Serif 4"/>
              <a:ea typeface="Source Serif 4"/>
              <a:cs typeface="Source Serif 4"/>
              <a:sym typeface="Source Serif 4"/>
            </a:endParaRPr>
          </a:p>
        </p:txBody>
      </p:sp>
      <p:sp>
        <p:nvSpPr>
          <p:cNvPr id="174" name="Google Shape;174;p23"/>
          <p:cNvSpPr txBox="1"/>
          <p:nvPr/>
        </p:nvSpPr>
        <p:spPr>
          <a:xfrm>
            <a:off x="2581125" y="3200275"/>
            <a:ext cx="951600" cy="2751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Source Serif 4"/>
                <a:ea typeface="Source Serif 4"/>
                <a:cs typeface="Source Serif 4"/>
                <a:sym typeface="Source Serif 4"/>
              </a:rPr>
              <a:t>24 horas</a:t>
            </a:r>
            <a:endParaRPr sz="1100">
              <a:solidFill>
                <a:schemeClr val="dk1"/>
              </a:solidFill>
              <a:latin typeface="Source Serif 4"/>
              <a:ea typeface="Source Serif 4"/>
              <a:cs typeface="Source Serif 4"/>
              <a:sym typeface="Source Serif 4"/>
            </a:endParaRPr>
          </a:p>
          <a:p>
            <a:pPr indent="0" lvl="0" marL="0" rtl="0" algn="l">
              <a:spcBef>
                <a:spcPts val="0"/>
              </a:spcBef>
              <a:spcAft>
                <a:spcPts val="0"/>
              </a:spcAft>
              <a:buNone/>
            </a:pPr>
            <a:r>
              <a:t/>
            </a:r>
            <a:endParaRPr>
              <a:solidFill>
                <a:schemeClr val="dk1"/>
              </a:solidFill>
              <a:latin typeface="Source Serif 4"/>
              <a:ea typeface="Source Serif 4"/>
              <a:cs typeface="Source Serif 4"/>
              <a:sym typeface="Source Serif 4"/>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4"/>
          <p:cNvSpPr txBox="1"/>
          <p:nvPr>
            <p:ph type="title"/>
          </p:nvPr>
        </p:nvSpPr>
        <p:spPr>
          <a:xfrm>
            <a:off x="433500" y="109800"/>
            <a:ext cx="6780000" cy="7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Source Serif 4"/>
                <a:ea typeface="Source Serif 4"/>
                <a:cs typeface="Source Serif 4"/>
                <a:sym typeface="Source Serif 4"/>
              </a:rPr>
              <a:t>¿Qué pasó ese día?</a:t>
            </a:r>
            <a:endParaRPr b="1" sz="3000">
              <a:latin typeface="Source Serif 4"/>
              <a:ea typeface="Source Serif 4"/>
              <a:cs typeface="Source Serif 4"/>
              <a:sym typeface="Source Serif 4"/>
            </a:endParaRPr>
          </a:p>
        </p:txBody>
      </p:sp>
      <p:sp>
        <p:nvSpPr>
          <p:cNvPr id="180" name="Google Shape;180;p24"/>
          <p:cNvSpPr txBox="1"/>
          <p:nvPr/>
        </p:nvSpPr>
        <p:spPr>
          <a:xfrm>
            <a:off x="461375" y="1261725"/>
            <a:ext cx="36765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Font typeface="Source Serif 4"/>
              <a:buChar char="-"/>
            </a:pPr>
            <a:r>
              <a:rPr lang="en" sz="1800">
                <a:solidFill>
                  <a:schemeClr val="dk2"/>
                </a:solidFill>
                <a:latin typeface="Source Serif 4"/>
                <a:ea typeface="Source Serif 4"/>
                <a:cs typeface="Source Serif 4"/>
                <a:sym typeface="Source Serif 4"/>
              </a:rPr>
              <a:t>El gráfico muestra el nivel de PM10 registrado por el sensor de Clinton Drive del 16 al 18 de diciembre.</a:t>
            </a:r>
            <a:endParaRPr sz="1800">
              <a:solidFill>
                <a:schemeClr val="dk2"/>
              </a:solidFill>
              <a:latin typeface="Source Serif 4"/>
              <a:ea typeface="Source Serif 4"/>
              <a:cs typeface="Source Serif 4"/>
              <a:sym typeface="Source Serif 4"/>
            </a:endParaRPr>
          </a:p>
          <a:p>
            <a:pPr indent="-342900" lvl="0" marL="457200" rtl="0" algn="l">
              <a:spcBef>
                <a:spcPts val="0"/>
              </a:spcBef>
              <a:spcAft>
                <a:spcPts val="0"/>
              </a:spcAft>
              <a:buClr>
                <a:schemeClr val="dk2"/>
              </a:buClr>
              <a:buSzPts val="1800"/>
              <a:buFont typeface="Source Serif 4"/>
              <a:buChar char="-"/>
            </a:pPr>
            <a:r>
              <a:rPr lang="en" sz="1800">
                <a:solidFill>
                  <a:schemeClr val="dk2"/>
                </a:solidFill>
                <a:latin typeface="Source Serif 4"/>
                <a:ea typeface="Source Serif 4"/>
                <a:cs typeface="Source Serif 4"/>
                <a:sym typeface="Source Serif 4"/>
              </a:rPr>
              <a:t>La línea azul representa el límite de PM10 de la EPA.</a:t>
            </a:r>
            <a:endParaRPr sz="1800">
              <a:solidFill>
                <a:schemeClr val="dk2"/>
              </a:solidFill>
              <a:latin typeface="Source Serif 4"/>
              <a:ea typeface="Source Serif 4"/>
              <a:cs typeface="Source Serif 4"/>
              <a:sym typeface="Source Serif 4"/>
            </a:endParaRPr>
          </a:p>
          <a:p>
            <a:pPr indent="-342900" lvl="0" marL="457200" rtl="0" algn="l">
              <a:spcBef>
                <a:spcPts val="0"/>
              </a:spcBef>
              <a:spcAft>
                <a:spcPts val="0"/>
              </a:spcAft>
              <a:buClr>
                <a:schemeClr val="dk2"/>
              </a:buClr>
              <a:buSzPts val="1800"/>
              <a:buFont typeface="Source Serif 4"/>
              <a:buChar char="-"/>
            </a:pPr>
            <a:r>
              <a:rPr lang="en" sz="1800">
                <a:solidFill>
                  <a:schemeClr val="dk2"/>
                </a:solidFill>
                <a:latin typeface="Source Serif 4"/>
                <a:ea typeface="Source Serif 4"/>
                <a:cs typeface="Source Serif 4"/>
                <a:sym typeface="Source Serif 4"/>
              </a:rPr>
              <a:t>Hubo una fuente sostenida de PM10 que duró 10 horas.</a:t>
            </a:r>
            <a:endParaRPr sz="1800">
              <a:solidFill>
                <a:schemeClr val="dk2"/>
              </a:solidFill>
              <a:latin typeface="Source Serif 4"/>
              <a:ea typeface="Source Serif 4"/>
              <a:cs typeface="Source Serif 4"/>
              <a:sym typeface="Source Serif 4"/>
            </a:endParaRPr>
          </a:p>
        </p:txBody>
      </p:sp>
      <p:pic>
        <p:nvPicPr>
          <p:cNvPr id="181" name="Google Shape;181;p24"/>
          <p:cNvPicPr preferRelativeResize="0"/>
          <p:nvPr/>
        </p:nvPicPr>
        <p:blipFill>
          <a:blip r:embed="rId3">
            <a:alphaModFix/>
          </a:blip>
          <a:stretch>
            <a:fillRect/>
          </a:stretch>
        </p:blipFill>
        <p:spPr>
          <a:xfrm>
            <a:off x="4704400" y="1786087"/>
            <a:ext cx="4439597" cy="2737875"/>
          </a:xfrm>
          <a:prstGeom prst="rect">
            <a:avLst/>
          </a:prstGeom>
          <a:noFill/>
          <a:ln>
            <a:noFill/>
          </a:ln>
        </p:spPr>
      </p:pic>
      <p:pic>
        <p:nvPicPr>
          <p:cNvPr id="182" name="Google Shape;182;p24"/>
          <p:cNvPicPr preferRelativeResize="0"/>
          <p:nvPr/>
        </p:nvPicPr>
        <p:blipFill rotWithShape="1">
          <a:blip r:embed="rId4">
            <a:alphaModFix amt="45000"/>
          </a:blip>
          <a:srcRect b="28374" l="0" r="0" t="70864"/>
          <a:stretch/>
        </p:blipFill>
        <p:spPr>
          <a:xfrm>
            <a:off x="4707575" y="3724876"/>
            <a:ext cx="4436426" cy="20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5"/>
          <p:cNvSpPr txBox="1"/>
          <p:nvPr>
            <p:ph type="title"/>
          </p:nvPr>
        </p:nvSpPr>
        <p:spPr>
          <a:xfrm>
            <a:off x="433500" y="109800"/>
            <a:ext cx="8363400" cy="7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Source Serif 4"/>
                <a:ea typeface="Source Serif 4"/>
                <a:cs typeface="Source Serif 4"/>
                <a:sym typeface="Source Serif 4"/>
              </a:rPr>
              <a:t>La interpretación del mapa del anillo polar</a:t>
            </a:r>
            <a:endParaRPr b="1" sz="3000">
              <a:latin typeface="Source Serif 4"/>
              <a:ea typeface="Source Serif 4"/>
              <a:cs typeface="Source Serif 4"/>
              <a:sym typeface="Source Serif 4"/>
            </a:endParaRPr>
          </a:p>
        </p:txBody>
      </p:sp>
      <p:pic>
        <p:nvPicPr>
          <p:cNvPr id="188" name="Google Shape;188;p25"/>
          <p:cNvPicPr preferRelativeResize="0"/>
          <p:nvPr/>
        </p:nvPicPr>
        <p:blipFill>
          <a:blip r:embed="rId3">
            <a:alphaModFix/>
          </a:blip>
          <a:stretch>
            <a:fillRect/>
          </a:stretch>
        </p:blipFill>
        <p:spPr>
          <a:xfrm>
            <a:off x="1949612" y="1545800"/>
            <a:ext cx="4217969" cy="2603100"/>
          </a:xfrm>
          <a:prstGeom prst="rect">
            <a:avLst/>
          </a:prstGeom>
          <a:noFill/>
          <a:ln>
            <a:noFill/>
          </a:ln>
        </p:spPr>
      </p:pic>
      <p:sp>
        <p:nvSpPr>
          <p:cNvPr id="189" name="Google Shape;189;p25"/>
          <p:cNvSpPr txBox="1"/>
          <p:nvPr/>
        </p:nvSpPr>
        <p:spPr>
          <a:xfrm>
            <a:off x="4545088" y="794750"/>
            <a:ext cx="16029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latin typeface="Source Serif 4"/>
                <a:ea typeface="Source Serif 4"/>
                <a:cs typeface="Source Serif 4"/>
                <a:sym typeface="Source Serif 4"/>
              </a:rPr>
              <a:t>Muestra la dirección de la fuente en relación con el sensor.</a:t>
            </a:r>
            <a:endParaRPr sz="1100"/>
          </a:p>
        </p:txBody>
      </p:sp>
      <p:sp>
        <p:nvSpPr>
          <p:cNvPr id="190" name="Google Shape;190;p25"/>
          <p:cNvSpPr/>
          <p:nvPr/>
        </p:nvSpPr>
        <p:spPr>
          <a:xfrm>
            <a:off x="4050063" y="3239950"/>
            <a:ext cx="242400" cy="242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1" name="Google Shape;191;p25"/>
          <p:cNvCxnSpPr/>
          <p:nvPr/>
        </p:nvCxnSpPr>
        <p:spPr>
          <a:xfrm rot="10800000">
            <a:off x="4256938" y="3482025"/>
            <a:ext cx="676800" cy="575100"/>
          </a:xfrm>
          <a:prstGeom prst="straightConnector1">
            <a:avLst/>
          </a:prstGeom>
          <a:noFill/>
          <a:ln cap="flat" cmpd="sng" w="9525">
            <a:solidFill>
              <a:schemeClr val="dk2"/>
            </a:solidFill>
            <a:prstDash val="solid"/>
            <a:round/>
            <a:headEnd len="med" w="med" type="none"/>
            <a:tailEnd len="med" w="med" type="triangle"/>
          </a:ln>
        </p:spPr>
      </p:cxnSp>
      <p:cxnSp>
        <p:nvCxnSpPr>
          <p:cNvPr id="192" name="Google Shape;192;p25"/>
          <p:cNvCxnSpPr/>
          <p:nvPr/>
        </p:nvCxnSpPr>
        <p:spPr>
          <a:xfrm flipH="1">
            <a:off x="3924389" y="1197999"/>
            <a:ext cx="620700" cy="506400"/>
          </a:xfrm>
          <a:prstGeom prst="straightConnector1">
            <a:avLst/>
          </a:prstGeom>
          <a:noFill/>
          <a:ln cap="flat" cmpd="sng" w="9525">
            <a:solidFill>
              <a:schemeClr val="dk2"/>
            </a:solidFill>
            <a:prstDash val="solid"/>
            <a:round/>
            <a:headEnd len="med" w="med" type="none"/>
            <a:tailEnd len="med" w="med" type="triangle"/>
          </a:ln>
        </p:spPr>
      </p:cxnSp>
      <p:cxnSp>
        <p:nvCxnSpPr>
          <p:cNvPr id="193" name="Google Shape;193;p25"/>
          <p:cNvCxnSpPr/>
          <p:nvPr/>
        </p:nvCxnSpPr>
        <p:spPr>
          <a:xfrm flipH="1" rot="10800000">
            <a:off x="3319763" y="3871975"/>
            <a:ext cx="459300" cy="150900"/>
          </a:xfrm>
          <a:prstGeom prst="straightConnector1">
            <a:avLst/>
          </a:prstGeom>
          <a:noFill/>
          <a:ln cap="flat" cmpd="sng" w="9525">
            <a:solidFill>
              <a:schemeClr val="dk2"/>
            </a:solidFill>
            <a:prstDash val="solid"/>
            <a:round/>
            <a:headEnd len="med" w="med" type="none"/>
            <a:tailEnd len="med" w="med" type="triangle"/>
          </a:ln>
        </p:spPr>
      </p:cxnSp>
      <p:sp>
        <p:nvSpPr>
          <p:cNvPr id="194" name="Google Shape;194;p25"/>
          <p:cNvSpPr txBox="1"/>
          <p:nvPr/>
        </p:nvSpPr>
        <p:spPr>
          <a:xfrm>
            <a:off x="2176163" y="3946675"/>
            <a:ext cx="1602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2"/>
              </a:solidFill>
              <a:latin typeface="Source Serif 4"/>
              <a:ea typeface="Source Serif 4"/>
              <a:cs typeface="Source Serif 4"/>
              <a:sym typeface="Source Serif 4"/>
            </a:endParaRPr>
          </a:p>
          <a:p>
            <a:pPr indent="0" lvl="0" marL="0" rtl="0" algn="l">
              <a:spcBef>
                <a:spcPts val="0"/>
              </a:spcBef>
              <a:spcAft>
                <a:spcPts val="0"/>
              </a:spcAft>
              <a:buNone/>
            </a:pPr>
            <a:r>
              <a:rPr lang="en" sz="1100">
                <a:solidFill>
                  <a:schemeClr val="dk2"/>
                </a:solidFill>
                <a:latin typeface="Source Serif 4"/>
                <a:ea typeface="Source Serif 4"/>
                <a:cs typeface="Source Serif 4"/>
                <a:sym typeface="Source Serif 4"/>
              </a:rPr>
              <a:t>La proximidad al interior del círculo determina cuándo se produjo la contaminación.</a:t>
            </a:r>
            <a:endParaRPr sz="1100">
              <a:solidFill>
                <a:schemeClr val="dk2"/>
              </a:solidFill>
              <a:latin typeface="Source Serif 4"/>
              <a:ea typeface="Source Serif 4"/>
              <a:cs typeface="Source Serif 4"/>
              <a:sym typeface="Source Serif 4"/>
            </a:endParaRPr>
          </a:p>
        </p:txBody>
      </p:sp>
      <p:sp>
        <p:nvSpPr>
          <p:cNvPr id="195" name="Google Shape;195;p25"/>
          <p:cNvSpPr txBox="1"/>
          <p:nvPr/>
        </p:nvSpPr>
        <p:spPr>
          <a:xfrm>
            <a:off x="4995688" y="3976800"/>
            <a:ext cx="2198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latin typeface="Source Serif 4"/>
                <a:ea typeface="Source Serif 4"/>
                <a:cs typeface="Source Serif 4"/>
                <a:sym typeface="Source Serif 4"/>
              </a:rPr>
              <a:t>En promedio, es de 90 µg/m³ más temprano en el día y la fuente proviene del sureste.</a:t>
            </a:r>
            <a:endParaRPr sz="1100"/>
          </a:p>
        </p:txBody>
      </p:sp>
      <p:cxnSp>
        <p:nvCxnSpPr>
          <p:cNvPr id="196" name="Google Shape;196;p25"/>
          <p:cNvCxnSpPr/>
          <p:nvPr/>
        </p:nvCxnSpPr>
        <p:spPr>
          <a:xfrm>
            <a:off x="4459825" y="3668275"/>
            <a:ext cx="675600" cy="675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26"/>
          <p:cNvPicPr preferRelativeResize="0"/>
          <p:nvPr/>
        </p:nvPicPr>
        <p:blipFill>
          <a:blip r:embed="rId3">
            <a:alphaModFix/>
          </a:blip>
          <a:stretch>
            <a:fillRect/>
          </a:stretch>
        </p:blipFill>
        <p:spPr>
          <a:xfrm>
            <a:off x="4039475" y="1192300"/>
            <a:ext cx="5104525" cy="3136825"/>
          </a:xfrm>
          <a:prstGeom prst="rect">
            <a:avLst/>
          </a:prstGeom>
          <a:noFill/>
          <a:ln>
            <a:noFill/>
          </a:ln>
        </p:spPr>
      </p:pic>
      <p:sp>
        <p:nvSpPr>
          <p:cNvPr id="202" name="Google Shape;202;p26"/>
          <p:cNvSpPr txBox="1"/>
          <p:nvPr>
            <p:ph type="title"/>
          </p:nvPr>
        </p:nvSpPr>
        <p:spPr>
          <a:xfrm>
            <a:off x="433500" y="93675"/>
            <a:ext cx="6780000" cy="7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Source Serif 4"/>
                <a:ea typeface="Source Serif 4"/>
                <a:cs typeface="Source Serif 4"/>
                <a:sym typeface="Source Serif 4"/>
              </a:rPr>
              <a:t>¿De dónde venía?</a:t>
            </a:r>
            <a:endParaRPr b="1" sz="3000">
              <a:latin typeface="Source Serif 4"/>
              <a:ea typeface="Source Serif 4"/>
              <a:cs typeface="Source Serif 4"/>
              <a:sym typeface="Source Serif 4"/>
            </a:endParaRPr>
          </a:p>
        </p:txBody>
      </p:sp>
      <p:sp>
        <p:nvSpPr>
          <p:cNvPr id="203" name="Google Shape;203;p26"/>
          <p:cNvSpPr txBox="1"/>
          <p:nvPr/>
        </p:nvSpPr>
        <p:spPr>
          <a:xfrm>
            <a:off x="461375" y="1261725"/>
            <a:ext cx="31776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latin typeface="Source Serif 4"/>
              <a:ea typeface="Source Serif 4"/>
              <a:cs typeface="Source Serif 4"/>
              <a:sym typeface="Source Serif 4"/>
            </a:endParaRPr>
          </a:p>
          <a:p>
            <a:pPr indent="-342900" lvl="0" marL="457200" rtl="0" algn="l">
              <a:spcBef>
                <a:spcPts val="0"/>
              </a:spcBef>
              <a:spcAft>
                <a:spcPts val="0"/>
              </a:spcAft>
              <a:buClr>
                <a:schemeClr val="dk2"/>
              </a:buClr>
              <a:buSzPts val="1800"/>
              <a:buFont typeface="Source Serif 4"/>
              <a:buChar char="-"/>
            </a:pPr>
            <a:r>
              <a:rPr lang="en" sz="1800">
                <a:solidFill>
                  <a:schemeClr val="dk2"/>
                </a:solidFill>
                <a:latin typeface="Source Serif 4"/>
                <a:ea typeface="Source Serif 4"/>
                <a:cs typeface="Source Serif 4"/>
                <a:sym typeface="Source Serif 4"/>
              </a:rPr>
              <a:t>Ambos sensores detectaron que las fuentes provenían del sureste, más hacia el sensor Clinton Drive.</a:t>
            </a:r>
            <a:endParaRPr sz="1800">
              <a:solidFill>
                <a:schemeClr val="dk2"/>
              </a:solidFill>
              <a:latin typeface="Source Serif 4"/>
              <a:ea typeface="Source Serif 4"/>
              <a:cs typeface="Source Serif 4"/>
              <a:sym typeface="Source Serif 4"/>
            </a:endParaRPr>
          </a:p>
        </p:txBody>
      </p:sp>
      <p:pic>
        <p:nvPicPr>
          <p:cNvPr id="204" name="Google Shape;204;p26"/>
          <p:cNvPicPr preferRelativeResize="0"/>
          <p:nvPr/>
        </p:nvPicPr>
        <p:blipFill>
          <a:blip r:embed="rId4">
            <a:alphaModFix/>
          </a:blip>
          <a:stretch>
            <a:fillRect/>
          </a:stretch>
        </p:blipFill>
        <p:spPr>
          <a:xfrm>
            <a:off x="7612675" y="0"/>
            <a:ext cx="1531325" cy="945050"/>
          </a:xfrm>
          <a:prstGeom prst="rect">
            <a:avLst/>
          </a:prstGeom>
          <a:noFill/>
          <a:ln>
            <a:noFill/>
          </a:ln>
        </p:spPr>
      </p:pic>
      <p:sp>
        <p:nvSpPr>
          <p:cNvPr id="205" name="Google Shape;205;p26"/>
          <p:cNvSpPr txBox="1"/>
          <p:nvPr/>
        </p:nvSpPr>
        <p:spPr>
          <a:xfrm>
            <a:off x="5930800" y="40563"/>
            <a:ext cx="19347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latin typeface="Source Serif 4"/>
                <a:ea typeface="Source Serif 4"/>
                <a:cs typeface="Source Serif 4"/>
                <a:sym typeface="Source Serif 4"/>
              </a:rPr>
              <a:t>Generalmente es un círculo completamente formado (como el de arriba a la derecha), pero esto muestra datos solo del 12/16 al 12/18.</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Source Serif 4 SemiBold"/>
                <a:ea typeface="Source Serif 4 SemiBold"/>
                <a:cs typeface="Source Serif 4 SemiBold"/>
                <a:sym typeface="Source Serif 4 SemiBold"/>
              </a:rPr>
              <a:t>PM</a:t>
            </a:r>
            <a:r>
              <a:rPr baseline="-25000" lang="en">
                <a:latin typeface="Source Serif 4 SemiBold"/>
                <a:ea typeface="Source Serif 4 SemiBold"/>
                <a:cs typeface="Source Serif 4 SemiBold"/>
                <a:sym typeface="Source Serif 4 SemiBold"/>
              </a:rPr>
              <a:t>1</a:t>
            </a:r>
            <a:r>
              <a:rPr lang="en">
                <a:latin typeface="Source Serif 4 SemiBold"/>
                <a:ea typeface="Source Serif 4 SemiBold"/>
                <a:cs typeface="Source Serif 4 SemiBold"/>
                <a:sym typeface="Source Serif 4 SemiBold"/>
              </a:rPr>
              <a:t> y PM</a:t>
            </a:r>
            <a:r>
              <a:rPr baseline="-25000" lang="en">
                <a:latin typeface="Source Serif 4 SemiBold"/>
                <a:ea typeface="Source Serif 4 SemiBold"/>
                <a:cs typeface="Source Serif 4 SemiBold"/>
                <a:sym typeface="Source Serif 4 SemiBold"/>
              </a:rPr>
              <a:t>2.5 </a:t>
            </a:r>
            <a:r>
              <a:rPr lang="en">
                <a:latin typeface="Source Serif 4 SemiBold"/>
                <a:ea typeface="Source Serif 4 SemiBold"/>
                <a:cs typeface="Source Serif 4 SemiBold"/>
                <a:sym typeface="Source Serif 4 SemiBold"/>
              </a:rPr>
              <a:t>provienen de fuentes diferentes en comparación con PM</a:t>
            </a:r>
            <a:r>
              <a:rPr baseline="-25000" lang="en">
                <a:latin typeface="Source Serif 4 SemiBold"/>
                <a:ea typeface="Source Serif 4 SemiBold"/>
                <a:cs typeface="Source Serif 4 SemiBold"/>
                <a:sym typeface="Source Serif 4 SemiBold"/>
              </a:rPr>
              <a:t>10</a:t>
            </a:r>
            <a:endParaRPr baseline="-25000">
              <a:latin typeface="Source Serif 4 SemiBold"/>
              <a:ea typeface="Source Serif 4 SemiBold"/>
              <a:cs typeface="Source Serif 4 SemiBold"/>
              <a:sym typeface="Source Serif 4 Semi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8"/>
          <p:cNvSpPr txBox="1"/>
          <p:nvPr>
            <p:ph type="title"/>
          </p:nvPr>
        </p:nvSpPr>
        <p:spPr>
          <a:xfrm>
            <a:off x="311700" y="445025"/>
            <a:ext cx="4717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latin typeface="Source Serif 4"/>
                <a:ea typeface="Source Serif 4"/>
                <a:cs typeface="Source Serif 4"/>
                <a:sym typeface="Source Serif 4"/>
              </a:rPr>
              <a:t>Un día típico de PM</a:t>
            </a:r>
            <a:r>
              <a:rPr b="1" baseline="-25000" lang="en">
                <a:latin typeface="Source Serif 4"/>
                <a:ea typeface="Source Serif 4"/>
                <a:cs typeface="Source Serif 4"/>
                <a:sym typeface="Source Serif 4"/>
              </a:rPr>
              <a:t>1</a:t>
            </a:r>
            <a:r>
              <a:rPr b="1" lang="en">
                <a:latin typeface="Source Serif 4"/>
                <a:ea typeface="Source Serif 4"/>
                <a:cs typeface="Source Serif 4"/>
                <a:sym typeface="Source Serif 4"/>
              </a:rPr>
              <a:t> y PM</a:t>
            </a:r>
            <a:r>
              <a:rPr b="1" baseline="-25000" lang="en">
                <a:latin typeface="Source Serif 4"/>
                <a:ea typeface="Source Serif 4"/>
                <a:cs typeface="Source Serif 4"/>
                <a:sym typeface="Source Serif 4"/>
              </a:rPr>
              <a:t>2.5</a:t>
            </a:r>
            <a:endParaRPr baseline="-25000"/>
          </a:p>
        </p:txBody>
      </p:sp>
      <p:pic>
        <p:nvPicPr>
          <p:cNvPr id="216" name="Google Shape;216;p28"/>
          <p:cNvPicPr preferRelativeResize="0"/>
          <p:nvPr/>
        </p:nvPicPr>
        <p:blipFill>
          <a:blip r:embed="rId3">
            <a:alphaModFix/>
          </a:blip>
          <a:stretch>
            <a:fillRect/>
          </a:stretch>
        </p:blipFill>
        <p:spPr>
          <a:xfrm>
            <a:off x="4948093" y="0"/>
            <a:ext cx="4168859" cy="2571693"/>
          </a:xfrm>
          <a:prstGeom prst="rect">
            <a:avLst/>
          </a:prstGeom>
          <a:noFill/>
          <a:ln>
            <a:noFill/>
          </a:ln>
        </p:spPr>
      </p:pic>
      <p:pic>
        <p:nvPicPr>
          <p:cNvPr id="217" name="Google Shape;217;p28"/>
          <p:cNvPicPr preferRelativeResize="0"/>
          <p:nvPr/>
        </p:nvPicPr>
        <p:blipFill>
          <a:blip r:embed="rId4">
            <a:alphaModFix/>
          </a:blip>
          <a:stretch>
            <a:fillRect/>
          </a:stretch>
        </p:blipFill>
        <p:spPr>
          <a:xfrm>
            <a:off x="5029236" y="2571797"/>
            <a:ext cx="4168865" cy="2571703"/>
          </a:xfrm>
          <a:prstGeom prst="rect">
            <a:avLst/>
          </a:prstGeom>
          <a:noFill/>
          <a:ln>
            <a:noFill/>
          </a:ln>
        </p:spPr>
      </p:pic>
      <p:sp>
        <p:nvSpPr>
          <p:cNvPr id="218" name="Google Shape;218;p28"/>
          <p:cNvSpPr txBox="1"/>
          <p:nvPr/>
        </p:nvSpPr>
        <p:spPr>
          <a:xfrm>
            <a:off x="482525" y="1247250"/>
            <a:ext cx="3954600" cy="37866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Font typeface="Source Serif 4"/>
              <a:buChar char="-"/>
            </a:pPr>
            <a:r>
              <a:rPr lang="en" sz="1800">
                <a:solidFill>
                  <a:schemeClr val="dk2"/>
                </a:solidFill>
                <a:latin typeface="Source Serif 4"/>
                <a:ea typeface="Source Serif 4"/>
                <a:cs typeface="Source Serif 4"/>
                <a:sym typeface="Source Serif 4"/>
              </a:rPr>
              <a:t>Estos gráficos están normalizados (en lugar de números reales, muestran una escala de 0, el valor más bajo, a 1, el valor más alto).</a:t>
            </a:r>
            <a:endParaRPr sz="1800">
              <a:solidFill>
                <a:schemeClr val="dk2"/>
              </a:solidFill>
              <a:latin typeface="Source Serif 4"/>
              <a:ea typeface="Source Serif 4"/>
              <a:cs typeface="Source Serif 4"/>
              <a:sym typeface="Source Serif 4"/>
            </a:endParaRPr>
          </a:p>
          <a:p>
            <a:pPr indent="-342900" lvl="0" marL="457200" rtl="0" algn="l">
              <a:spcBef>
                <a:spcPts val="0"/>
              </a:spcBef>
              <a:spcAft>
                <a:spcPts val="0"/>
              </a:spcAft>
              <a:buClr>
                <a:schemeClr val="dk2"/>
              </a:buClr>
              <a:buSzPts val="1800"/>
              <a:buFont typeface="Source Serif 4"/>
              <a:buChar char="-"/>
            </a:pPr>
            <a:r>
              <a:rPr lang="en" sz="1800">
                <a:solidFill>
                  <a:schemeClr val="dk2"/>
                </a:solidFill>
                <a:latin typeface="Source Serif 4"/>
                <a:ea typeface="Source Serif 4"/>
                <a:cs typeface="Source Serif 4"/>
                <a:sym typeface="Source Serif 4"/>
              </a:rPr>
              <a:t>Están normalizados para mostrar los picos y valles, y sus movimientos a lo largo del día.</a:t>
            </a:r>
            <a:endParaRPr sz="1800">
              <a:solidFill>
                <a:schemeClr val="dk2"/>
              </a:solidFill>
              <a:latin typeface="Source Serif 4"/>
              <a:ea typeface="Source Serif 4"/>
              <a:cs typeface="Source Serif 4"/>
              <a:sym typeface="Source Serif 4"/>
            </a:endParaRPr>
          </a:p>
          <a:p>
            <a:pPr indent="-342900" lvl="0" marL="457200" rtl="0" algn="l">
              <a:spcBef>
                <a:spcPts val="0"/>
              </a:spcBef>
              <a:spcAft>
                <a:spcPts val="0"/>
              </a:spcAft>
              <a:buClr>
                <a:schemeClr val="dk2"/>
              </a:buClr>
              <a:buSzPts val="1800"/>
              <a:buFont typeface="Source Serif 4"/>
              <a:buChar char="-"/>
            </a:pPr>
            <a:r>
              <a:rPr lang="en" sz="1800">
                <a:solidFill>
                  <a:schemeClr val="dk2"/>
                </a:solidFill>
                <a:latin typeface="Source Serif 4"/>
                <a:ea typeface="Source Serif 4"/>
                <a:cs typeface="Source Serif 4"/>
                <a:sym typeface="Source Serif 4"/>
              </a:rPr>
              <a:t>PM1 y PM2.5 tienen una forma muy similar a PM10 (que se muestra en la siguiente diapositiva).</a:t>
            </a:r>
            <a:endParaRPr sz="1800">
              <a:solidFill>
                <a:schemeClr val="dk2"/>
              </a:solidFill>
              <a:latin typeface="Source Serif 4"/>
              <a:ea typeface="Source Serif 4"/>
              <a:cs typeface="Source Serif 4"/>
              <a:sym typeface="Source Serif 4"/>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Source Serif 4"/>
                <a:ea typeface="Source Serif 4"/>
                <a:cs typeface="Source Serif 4"/>
                <a:sym typeface="Source Serif 4"/>
              </a:rPr>
              <a:t>Un día típico para PM</a:t>
            </a:r>
            <a:r>
              <a:rPr b="1" baseline="-25000" lang="en">
                <a:latin typeface="Source Serif 4"/>
                <a:ea typeface="Source Serif 4"/>
                <a:cs typeface="Source Serif 4"/>
                <a:sym typeface="Source Serif 4"/>
              </a:rPr>
              <a:t>10</a:t>
            </a:r>
            <a:endParaRPr baseline="-25000"/>
          </a:p>
        </p:txBody>
      </p:sp>
      <p:sp>
        <p:nvSpPr>
          <p:cNvPr id="224" name="Google Shape;224;p29"/>
          <p:cNvSpPr txBox="1"/>
          <p:nvPr>
            <p:ph idx="1" type="body"/>
          </p:nvPr>
        </p:nvSpPr>
        <p:spPr>
          <a:xfrm>
            <a:off x="311700" y="1152475"/>
            <a:ext cx="2513100" cy="920700"/>
          </a:xfrm>
          <a:prstGeom prst="rect">
            <a:avLst/>
          </a:prstGeom>
        </p:spPr>
        <p:txBody>
          <a:bodyPr anchorCtr="0" anchor="t" bIns="91425" lIns="91425" spcFirstLastPara="1" rIns="91425" wrap="square" tIns="91425">
            <a:normAutofit/>
          </a:bodyPr>
          <a:lstStyle/>
          <a:p>
            <a:pPr indent="-317500" lvl="0" marL="457200" rtl="0" algn="l">
              <a:lnSpc>
                <a:spcPct val="100000"/>
              </a:lnSpc>
              <a:spcBef>
                <a:spcPts val="0"/>
              </a:spcBef>
              <a:spcAft>
                <a:spcPts val="0"/>
              </a:spcAft>
              <a:buSzPts val="1400"/>
              <a:buFont typeface="Source Serif 4"/>
              <a:buChar char="-"/>
            </a:pPr>
            <a:r>
              <a:rPr lang="en" sz="1400">
                <a:latin typeface="Source Serif 4"/>
                <a:ea typeface="Source Serif 4"/>
                <a:cs typeface="Source Serif 4"/>
                <a:sym typeface="Source Serif 4"/>
              </a:rPr>
              <a:t>PM</a:t>
            </a:r>
            <a:r>
              <a:rPr baseline="-25000" lang="en" sz="1400">
                <a:latin typeface="Source Serif 4"/>
                <a:ea typeface="Source Serif 4"/>
                <a:cs typeface="Source Serif 4"/>
                <a:sym typeface="Source Serif 4"/>
              </a:rPr>
              <a:t>10 </a:t>
            </a:r>
            <a:r>
              <a:rPr lang="en" sz="1400">
                <a:latin typeface="Source Serif 4"/>
                <a:ea typeface="Source Serif 4"/>
                <a:cs typeface="Source Serif 4"/>
                <a:sym typeface="Source Serif 4"/>
              </a:rPr>
              <a:t>tiene un cima más pronunciado en la mañana</a:t>
            </a:r>
            <a:endParaRPr sz="1400">
              <a:latin typeface="Source Serif 4"/>
              <a:ea typeface="Source Serif 4"/>
              <a:cs typeface="Source Serif 4"/>
              <a:sym typeface="Source Serif 4"/>
            </a:endParaRPr>
          </a:p>
        </p:txBody>
      </p:sp>
      <p:pic>
        <p:nvPicPr>
          <p:cNvPr id="225" name="Google Shape;225;p29"/>
          <p:cNvPicPr preferRelativeResize="0"/>
          <p:nvPr/>
        </p:nvPicPr>
        <p:blipFill>
          <a:blip r:embed="rId3">
            <a:alphaModFix/>
          </a:blip>
          <a:stretch>
            <a:fillRect/>
          </a:stretch>
        </p:blipFill>
        <p:spPr>
          <a:xfrm>
            <a:off x="2674345" y="1152475"/>
            <a:ext cx="6469654" cy="3991025"/>
          </a:xfrm>
          <a:prstGeom prst="rect">
            <a:avLst/>
          </a:prstGeom>
          <a:noFill/>
          <a:ln>
            <a:noFill/>
          </a:ln>
        </p:spPr>
      </p:pic>
      <p:sp>
        <p:nvSpPr>
          <p:cNvPr id="226" name="Google Shape;226;p29"/>
          <p:cNvSpPr txBox="1"/>
          <p:nvPr/>
        </p:nvSpPr>
        <p:spPr>
          <a:xfrm>
            <a:off x="311700" y="3502600"/>
            <a:ext cx="261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latin typeface="Source Serif 4"/>
              <a:ea typeface="Source Serif 4"/>
              <a:cs typeface="Source Serif 4"/>
              <a:sym typeface="Source Serif 4"/>
            </a:endParaRPr>
          </a:p>
          <a:p>
            <a:pPr indent="-317500" lvl="0" marL="457200" rtl="0" algn="l">
              <a:spcBef>
                <a:spcPts val="0"/>
              </a:spcBef>
              <a:spcAft>
                <a:spcPts val="0"/>
              </a:spcAft>
              <a:buClr>
                <a:schemeClr val="dk2"/>
              </a:buClr>
              <a:buSzPts val="1400"/>
              <a:buFont typeface="Source Serif 4"/>
              <a:buChar char="-"/>
            </a:pPr>
            <a:r>
              <a:rPr lang="en">
                <a:solidFill>
                  <a:schemeClr val="dk2"/>
                </a:solidFill>
                <a:latin typeface="Source Serif 4"/>
                <a:ea typeface="Source Serif 4"/>
                <a:cs typeface="Source Serif 4"/>
                <a:sym typeface="Source Serif 4"/>
              </a:rPr>
              <a:t>La magnitud también persistió durante el resto del día.</a:t>
            </a:r>
            <a:endParaRPr>
              <a:solidFill>
                <a:schemeClr val="dk2"/>
              </a:solidFill>
              <a:latin typeface="Source Serif 4"/>
              <a:ea typeface="Source Serif 4"/>
              <a:cs typeface="Source Serif 4"/>
              <a:sym typeface="Source Serif 4"/>
            </a:endParaRPr>
          </a:p>
        </p:txBody>
      </p:sp>
      <p:sp>
        <p:nvSpPr>
          <p:cNvPr id="227" name="Google Shape;227;p29"/>
          <p:cNvSpPr txBox="1"/>
          <p:nvPr/>
        </p:nvSpPr>
        <p:spPr>
          <a:xfrm>
            <a:off x="0" y="2207925"/>
            <a:ext cx="2674500" cy="801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Source Serif 4"/>
              <a:buChar char="-"/>
            </a:pPr>
            <a:r>
              <a:rPr lang="en">
                <a:solidFill>
                  <a:schemeClr val="dk2"/>
                </a:solidFill>
                <a:latin typeface="Source Serif 4"/>
                <a:ea typeface="Source Serif 4"/>
                <a:cs typeface="Source Serif 4"/>
                <a:sym typeface="Source Serif 4"/>
              </a:rPr>
              <a:t>También hay un pequeño cima que no se encuentra en los otros gráficos a las 3 am.</a:t>
            </a:r>
            <a:endParaRPr>
              <a:solidFill>
                <a:schemeClr val="dk2"/>
              </a:solidFill>
              <a:latin typeface="Source Serif 4"/>
              <a:ea typeface="Source Serif 4"/>
              <a:cs typeface="Source Serif 4"/>
              <a:sym typeface="Source Serif 4"/>
            </a:endParaRPr>
          </a:p>
          <a:p>
            <a:pPr indent="0" lvl="0" marL="457200" rtl="0" algn="l">
              <a:spcBef>
                <a:spcPts val="0"/>
              </a:spcBef>
              <a:spcAft>
                <a:spcPts val="0"/>
              </a:spcAft>
              <a:buNone/>
            </a:pPr>
            <a:r>
              <a:t/>
            </a:r>
            <a:endParaRPr>
              <a:solidFill>
                <a:schemeClr val="dk2"/>
              </a:solidFill>
              <a:latin typeface="Source Serif 4"/>
              <a:ea typeface="Source Serif 4"/>
              <a:cs typeface="Source Serif 4"/>
              <a:sym typeface="Source Serif 4"/>
            </a:endParaRPr>
          </a:p>
          <a:p>
            <a:pPr indent="0" lvl="0" marL="0" rtl="0" algn="l">
              <a:spcBef>
                <a:spcPts val="0"/>
              </a:spcBef>
              <a:spcAft>
                <a:spcPts val="0"/>
              </a:spcAft>
              <a:buNone/>
            </a:pPr>
            <a:r>
              <a:t/>
            </a:r>
            <a:endParaRPr sz="1800">
              <a:solidFill>
                <a:schemeClr val="dk2"/>
              </a:solidFill>
            </a:endParaRPr>
          </a:p>
        </p:txBody>
      </p:sp>
      <p:cxnSp>
        <p:nvCxnSpPr>
          <p:cNvPr id="228" name="Google Shape;228;p29"/>
          <p:cNvCxnSpPr/>
          <p:nvPr/>
        </p:nvCxnSpPr>
        <p:spPr>
          <a:xfrm>
            <a:off x="2726250" y="1489775"/>
            <a:ext cx="2160600" cy="1618500"/>
          </a:xfrm>
          <a:prstGeom prst="straightConnector1">
            <a:avLst/>
          </a:prstGeom>
          <a:noFill/>
          <a:ln cap="flat" cmpd="sng" w="9525">
            <a:solidFill>
              <a:schemeClr val="dk2"/>
            </a:solidFill>
            <a:prstDash val="solid"/>
            <a:round/>
            <a:headEnd len="med" w="med" type="none"/>
            <a:tailEnd len="med" w="med" type="triangle"/>
          </a:ln>
        </p:spPr>
      </p:cxnSp>
      <p:cxnSp>
        <p:nvCxnSpPr>
          <p:cNvPr id="229" name="Google Shape;229;p29"/>
          <p:cNvCxnSpPr/>
          <p:nvPr/>
        </p:nvCxnSpPr>
        <p:spPr>
          <a:xfrm>
            <a:off x="2526425" y="2760700"/>
            <a:ext cx="1432200" cy="889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0"/>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Source Serif 4"/>
                <a:ea typeface="Source Serif 4"/>
                <a:cs typeface="Source Serif 4"/>
                <a:sym typeface="Source Serif 4"/>
              </a:rPr>
              <a:t>PM </a:t>
            </a:r>
            <a:r>
              <a:rPr b="1" baseline="-25000" lang="en">
                <a:latin typeface="Source Serif 4"/>
                <a:ea typeface="Source Serif 4"/>
                <a:cs typeface="Source Serif 4"/>
                <a:sym typeface="Source Serif 4"/>
              </a:rPr>
              <a:t>1</a:t>
            </a:r>
            <a:r>
              <a:rPr b="1" lang="en">
                <a:latin typeface="Source Serif 4"/>
                <a:ea typeface="Source Serif 4"/>
                <a:cs typeface="Source Serif 4"/>
                <a:sym typeface="Source Serif 4"/>
              </a:rPr>
              <a:t> y PM </a:t>
            </a:r>
            <a:r>
              <a:rPr b="1" baseline="-25000" lang="en">
                <a:latin typeface="Source Serif 4"/>
                <a:ea typeface="Source Serif 4"/>
                <a:cs typeface="Source Serif 4"/>
                <a:sym typeface="Source Serif 4"/>
              </a:rPr>
              <a:t>2.5</a:t>
            </a:r>
            <a:r>
              <a:rPr b="1" lang="en">
                <a:latin typeface="Source Serif 4"/>
                <a:ea typeface="Source Serif 4"/>
                <a:cs typeface="Source Serif 4"/>
                <a:sym typeface="Source Serif 4"/>
              </a:rPr>
              <a:t> provienen de fuentes diferentes</a:t>
            </a:r>
            <a:endParaRPr b="1">
              <a:latin typeface="Source Serif 4"/>
              <a:ea typeface="Source Serif 4"/>
              <a:cs typeface="Source Serif 4"/>
              <a:sym typeface="Source Serif 4"/>
            </a:endParaRPr>
          </a:p>
        </p:txBody>
      </p:sp>
      <p:pic>
        <p:nvPicPr>
          <p:cNvPr id="235" name="Google Shape;235;p30"/>
          <p:cNvPicPr preferRelativeResize="0"/>
          <p:nvPr/>
        </p:nvPicPr>
        <p:blipFill rotWithShape="1">
          <a:blip r:embed="rId3">
            <a:alphaModFix/>
          </a:blip>
          <a:srcRect b="255" l="0" r="0" t="1299"/>
          <a:stretch/>
        </p:blipFill>
        <p:spPr>
          <a:xfrm>
            <a:off x="4755175" y="1087448"/>
            <a:ext cx="4144876" cy="2515227"/>
          </a:xfrm>
          <a:prstGeom prst="rect">
            <a:avLst/>
          </a:prstGeom>
          <a:noFill/>
          <a:ln>
            <a:noFill/>
          </a:ln>
        </p:spPr>
      </p:pic>
      <p:pic>
        <p:nvPicPr>
          <p:cNvPr id="236" name="Google Shape;236;p30"/>
          <p:cNvPicPr preferRelativeResize="0"/>
          <p:nvPr/>
        </p:nvPicPr>
        <p:blipFill rotWithShape="1">
          <a:blip r:embed="rId4">
            <a:alphaModFix/>
          </a:blip>
          <a:srcRect b="-150" l="0" r="0" t="150"/>
          <a:stretch/>
        </p:blipFill>
        <p:spPr>
          <a:xfrm>
            <a:off x="311700" y="1063342"/>
            <a:ext cx="4144875" cy="2554257"/>
          </a:xfrm>
          <a:prstGeom prst="rect">
            <a:avLst/>
          </a:prstGeom>
          <a:noFill/>
          <a:ln>
            <a:noFill/>
          </a:ln>
        </p:spPr>
      </p:pic>
      <p:sp>
        <p:nvSpPr>
          <p:cNvPr id="237" name="Google Shape;237;p30"/>
          <p:cNvSpPr txBox="1"/>
          <p:nvPr/>
        </p:nvSpPr>
        <p:spPr>
          <a:xfrm>
            <a:off x="2980836" y="3815625"/>
            <a:ext cx="1077900" cy="2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Source Serif 4"/>
                <a:ea typeface="Source Serif 4"/>
                <a:cs typeface="Source Serif 4"/>
                <a:sym typeface="Source Serif 4"/>
              </a:rPr>
              <a:t>PM </a:t>
            </a:r>
            <a:r>
              <a:rPr baseline="-25000" lang="en" sz="1800">
                <a:solidFill>
                  <a:schemeClr val="dk2"/>
                </a:solidFill>
                <a:latin typeface="Source Serif 4"/>
                <a:ea typeface="Source Serif 4"/>
                <a:cs typeface="Source Serif 4"/>
                <a:sym typeface="Source Serif 4"/>
              </a:rPr>
              <a:t>2.5</a:t>
            </a:r>
            <a:endParaRPr baseline="-25000" sz="1800">
              <a:solidFill>
                <a:schemeClr val="dk2"/>
              </a:solidFill>
              <a:latin typeface="Source Serif 4"/>
              <a:ea typeface="Source Serif 4"/>
              <a:cs typeface="Source Serif 4"/>
              <a:sym typeface="Source Serif 4"/>
            </a:endParaRPr>
          </a:p>
          <a:p>
            <a:pPr indent="0" lvl="0" marL="0" rtl="0" algn="l">
              <a:spcBef>
                <a:spcPts val="0"/>
              </a:spcBef>
              <a:spcAft>
                <a:spcPts val="0"/>
              </a:spcAft>
              <a:buNone/>
            </a:pPr>
            <a:r>
              <a:t/>
            </a:r>
            <a:endParaRPr sz="1800">
              <a:solidFill>
                <a:schemeClr val="dk2"/>
              </a:solidFill>
            </a:endParaRPr>
          </a:p>
        </p:txBody>
      </p:sp>
      <p:sp>
        <p:nvSpPr>
          <p:cNvPr id="238" name="Google Shape;238;p30"/>
          <p:cNvSpPr txBox="1"/>
          <p:nvPr/>
        </p:nvSpPr>
        <p:spPr>
          <a:xfrm>
            <a:off x="5293550" y="3815625"/>
            <a:ext cx="12618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800">
                <a:solidFill>
                  <a:schemeClr val="dk2"/>
                </a:solidFill>
                <a:latin typeface="Source Serif 4"/>
                <a:ea typeface="Source Serif 4"/>
                <a:cs typeface="Source Serif 4"/>
                <a:sym typeface="Source Serif 4"/>
              </a:rPr>
              <a:t>PM </a:t>
            </a:r>
            <a:r>
              <a:rPr baseline="-25000" lang="en" sz="1800">
                <a:solidFill>
                  <a:schemeClr val="dk2"/>
                </a:solidFill>
                <a:latin typeface="Source Serif 4"/>
                <a:ea typeface="Source Serif 4"/>
                <a:cs typeface="Source Serif 4"/>
                <a:sym typeface="Source Serif 4"/>
              </a:rPr>
              <a:t>10</a:t>
            </a:r>
            <a:endParaRPr baseline="-25000" sz="1800">
              <a:solidFill>
                <a:schemeClr val="dk2"/>
              </a:solidFill>
              <a:latin typeface="Source Serif 4"/>
              <a:ea typeface="Source Serif 4"/>
              <a:cs typeface="Source Serif 4"/>
              <a:sym typeface="Source Serif 4"/>
            </a:endParaRPr>
          </a:p>
          <a:p>
            <a:pPr indent="0" lvl="0" marL="0" rtl="0" algn="l">
              <a:spcBef>
                <a:spcPts val="0"/>
              </a:spcBef>
              <a:spcAft>
                <a:spcPts val="0"/>
              </a:spcAft>
              <a:buNone/>
            </a:pPr>
            <a:r>
              <a:t/>
            </a:r>
            <a:endParaRPr sz="1800">
              <a:solidFill>
                <a:schemeClr val="dk2"/>
              </a:solidFill>
            </a:endParaRPr>
          </a:p>
        </p:txBody>
      </p:sp>
      <p:sp>
        <p:nvSpPr>
          <p:cNvPr id="239" name="Google Shape;239;p30"/>
          <p:cNvSpPr txBox="1"/>
          <p:nvPr/>
        </p:nvSpPr>
        <p:spPr>
          <a:xfrm>
            <a:off x="4410025" y="3815625"/>
            <a:ext cx="6141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Source Serif 4"/>
                <a:ea typeface="Source Serif 4"/>
                <a:cs typeface="Source Serif 4"/>
                <a:sym typeface="Source Serif 4"/>
              </a:rPr>
              <a:t>VS</a:t>
            </a:r>
            <a:endParaRPr sz="1800">
              <a:solidFill>
                <a:schemeClr val="dk2"/>
              </a:solidFill>
              <a:latin typeface="Source Serif 4"/>
              <a:ea typeface="Source Serif 4"/>
              <a:cs typeface="Source Serif 4"/>
              <a:sym typeface="Source Serif 4"/>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40" name="Google Shape;240;p30"/>
          <p:cNvSpPr txBox="1"/>
          <p:nvPr/>
        </p:nvSpPr>
        <p:spPr>
          <a:xfrm>
            <a:off x="7337575" y="3744675"/>
            <a:ext cx="17295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a:solidFill>
                  <a:schemeClr val="dk2"/>
                </a:solidFill>
                <a:latin typeface="Source Serif 4"/>
                <a:ea typeface="Source Serif 4"/>
                <a:cs typeface="Source Serif 4"/>
                <a:sym typeface="Source Serif 4"/>
              </a:rPr>
              <a:t>El PM</a:t>
            </a:r>
            <a:r>
              <a:rPr baseline="-25000" lang="en">
                <a:solidFill>
                  <a:schemeClr val="dk2"/>
                </a:solidFill>
                <a:latin typeface="Source Serif 4"/>
                <a:ea typeface="Source Serif 4"/>
                <a:cs typeface="Source Serif 4"/>
                <a:sym typeface="Source Serif 4"/>
              </a:rPr>
              <a:t>10 </a:t>
            </a:r>
            <a:r>
              <a:rPr lang="en">
                <a:solidFill>
                  <a:schemeClr val="dk2"/>
                </a:solidFill>
                <a:latin typeface="Source Serif 4"/>
                <a:ea typeface="Source Serif 4"/>
                <a:cs typeface="Source Serif 4"/>
                <a:sym typeface="Source Serif 4"/>
              </a:rPr>
              <a:t>tiende a provenir únicamente de la región sur</a:t>
            </a:r>
            <a:endParaRPr>
              <a:solidFill>
                <a:schemeClr val="dk2"/>
              </a:solidFill>
              <a:latin typeface="Source Serif 4"/>
              <a:ea typeface="Source Serif 4"/>
              <a:cs typeface="Source Serif 4"/>
              <a:sym typeface="Source Serif 4"/>
            </a:endParaRPr>
          </a:p>
        </p:txBody>
      </p:sp>
      <p:sp>
        <p:nvSpPr>
          <p:cNvPr id="241" name="Google Shape;241;p30"/>
          <p:cNvSpPr txBox="1"/>
          <p:nvPr/>
        </p:nvSpPr>
        <p:spPr>
          <a:xfrm>
            <a:off x="214675" y="3744675"/>
            <a:ext cx="1729500" cy="895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a:solidFill>
                  <a:schemeClr val="dk2"/>
                </a:solidFill>
                <a:latin typeface="Source Serif 4"/>
                <a:ea typeface="Source Serif 4"/>
                <a:cs typeface="Source Serif 4"/>
                <a:sym typeface="Source Serif 4"/>
              </a:rPr>
              <a:t>PM</a:t>
            </a:r>
            <a:r>
              <a:rPr baseline="-25000" lang="en">
                <a:solidFill>
                  <a:schemeClr val="dk2"/>
                </a:solidFill>
                <a:latin typeface="Source Serif 4"/>
                <a:ea typeface="Source Serif 4"/>
                <a:cs typeface="Source Serif 4"/>
                <a:sym typeface="Source Serif 4"/>
              </a:rPr>
              <a:t>1</a:t>
            </a:r>
            <a:r>
              <a:rPr lang="en">
                <a:solidFill>
                  <a:schemeClr val="dk2"/>
                </a:solidFill>
                <a:latin typeface="Source Serif 4"/>
                <a:ea typeface="Source Serif 4"/>
                <a:cs typeface="Source Serif 4"/>
                <a:sym typeface="Source Serif 4"/>
              </a:rPr>
              <a:t> y PM</a:t>
            </a:r>
            <a:r>
              <a:rPr baseline="-25000" lang="en">
                <a:solidFill>
                  <a:schemeClr val="dk2"/>
                </a:solidFill>
                <a:latin typeface="Source Serif 4"/>
                <a:ea typeface="Source Serif 4"/>
                <a:cs typeface="Source Serif 4"/>
                <a:sym typeface="Source Serif 4"/>
              </a:rPr>
              <a:t>2.5</a:t>
            </a:r>
            <a:r>
              <a:rPr lang="en">
                <a:solidFill>
                  <a:schemeClr val="dk2"/>
                </a:solidFill>
                <a:latin typeface="Source Serif 4"/>
                <a:ea typeface="Source Serif 4"/>
                <a:cs typeface="Source Serif 4"/>
                <a:sym typeface="Source Serif 4"/>
              </a:rPr>
              <a:t> tienden a provenir del este</a:t>
            </a:r>
            <a:endParaRPr/>
          </a:p>
        </p:txBody>
      </p:sp>
      <p:cxnSp>
        <p:nvCxnSpPr>
          <p:cNvPr id="242" name="Google Shape;242;p30"/>
          <p:cNvCxnSpPr/>
          <p:nvPr/>
        </p:nvCxnSpPr>
        <p:spPr>
          <a:xfrm flipH="1" rot="10800000">
            <a:off x="1079425" y="1923975"/>
            <a:ext cx="220800" cy="1820700"/>
          </a:xfrm>
          <a:prstGeom prst="straightConnector1">
            <a:avLst/>
          </a:prstGeom>
          <a:noFill/>
          <a:ln cap="flat" cmpd="sng" w="9525">
            <a:solidFill>
              <a:schemeClr val="dk2"/>
            </a:solidFill>
            <a:prstDash val="solid"/>
            <a:round/>
            <a:headEnd len="med" w="med" type="none"/>
            <a:tailEnd len="med" w="med" type="triangle"/>
          </a:ln>
        </p:spPr>
      </p:cxnSp>
      <p:cxnSp>
        <p:nvCxnSpPr>
          <p:cNvPr id="243" name="Google Shape;243;p30"/>
          <p:cNvCxnSpPr/>
          <p:nvPr/>
        </p:nvCxnSpPr>
        <p:spPr>
          <a:xfrm flipH="1" rot="10800000">
            <a:off x="1784050" y="2695000"/>
            <a:ext cx="2022300" cy="1243500"/>
          </a:xfrm>
          <a:prstGeom prst="straightConnector1">
            <a:avLst/>
          </a:prstGeom>
          <a:noFill/>
          <a:ln cap="flat" cmpd="sng" w="9525">
            <a:solidFill>
              <a:schemeClr val="dk2"/>
            </a:solidFill>
            <a:prstDash val="solid"/>
            <a:round/>
            <a:headEnd len="med" w="med" type="none"/>
            <a:tailEnd len="med" w="med" type="triangle"/>
          </a:ln>
        </p:spPr>
      </p:cxnSp>
      <p:cxnSp>
        <p:nvCxnSpPr>
          <p:cNvPr id="244" name="Google Shape;244;p30"/>
          <p:cNvCxnSpPr>
            <a:stCxn id="240" idx="0"/>
          </p:cNvCxnSpPr>
          <p:nvPr/>
        </p:nvCxnSpPr>
        <p:spPr>
          <a:xfrm rot="10800000">
            <a:off x="8202025" y="2891475"/>
            <a:ext cx="300" cy="853200"/>
          </a:xfrm>
          <a:prstGeom prst="straightConnector1">
            <a:avLst/>
          </a:prstGeom>
          <a:noFill/>
          <a:ln cap="flat" cmpd="sng" w="9525">
            <a:solidFill>
              <a:schemeClr val="dk2"/>
            </a:solidFill>
            <a:prstDash val="solid"/>
            <a:round/>
            <a:headEnd len="med" w="med" type="none"/>
            <a:tailEnd len="med" w="med" type="triangle"/>
          </a:ln>
        </p:spPr>
      </p:cxnSp>
      <p:cxnSp>
        <p:nvCxnSpPr>
          <p:cNvPr id="245" name="Google Shape;245;p30"/>
          <p:cNvCxnSpPr/>
          <p:nvPr/>
        </p:nvCxnSpPr>
        <p:spPr>
          <a:xfrm rot="10800000">
            <a:off x="5662150" y="2052525"/>
            <a:ext cx="1742400" cy="1825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