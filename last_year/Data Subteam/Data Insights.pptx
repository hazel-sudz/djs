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Source Serif 4 SemiBold"/>
      <p:regular r:id="rId22"/>
      <p:bold r:id="rId23"/>
      <p:italic r:id="rId24"/>
      <p:boldItalic r:id="rId25"/>
    </p:embeddedFont>
    <p:embeddedFont>
      <p:font typeface="Source Serif 4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SourceSerif4SemiBold-regular.fntdata"/><Relationship Id="rId21" Type="http://schemas.openxmlformats.org/officeDocument/2006/relationships/slide" Target="slides/slide16.xml"/><Relationship Id="rId24" Type="http://schemas.openxmlformats.org/officeDocument/2006/relationships/font" Target="fonts/SourceSerif4SemiBold-italic.fntdata"/><Relationship Id="rId23" Type="http://schemas.openxmlformats.org/officeDocument/2006/relationships/font" Target="fonts/SourceSerif4SemiBold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SourceSerif4-regular.fntdata"/><Relationship Id="rId25" Type="http://schemas.openxmlformats.org/officeDocument/2006/relationships/font" Target="fonts/SourceSerif4SemiBold-boldItalic.fntdata"/><Relationship Id="rId28" Type="http://schemas.openxmlformats.org/officeDocument/2006/relationships/font" Target="fonts/SourceSerif4-italic.fntdata"/><Relationship Id="rId27" Type="http://schemas.openxmlformats.org/officeDocument/2006/relationships/font" Target="fonts/SourceSerif4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SourceSerif4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e40f15250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e40f15250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2e40f152502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2e40f152502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2e40f152502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2e40f152502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e4310b15b5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e4310b15b5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2e4310b15b5_1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2e4310b15b5_1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e4310b15b5_1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e4310b15b5_1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2e40f152502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2e40f152502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e4310b15b5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2e4310b15b5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e4310b15b5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e4310b15b5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e40f152502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e40f152502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409d6e6ed5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409d6e6ed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409d6e6ed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409d6e6ed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409d6e6ed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409d6e6ed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409d6e6ed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409d6e6ed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4211daae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e4211daae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Data</a:t>
            </a: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 Insights</a:t>
            </a:r>
            <a:endParaRPr b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Overview</a:t>
            </a:r>
            <a:endParaRPr b="1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type="title"/>
          </p:nvPr>
        </p:nvSpPr>
        <p:spPr>
          <a:xfrm>
            <a:off x="921775" y="3473725"/>
            <a:ext cx="188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erif 4"/>
                <a:ea typeface="Source Serif 4"/>
                <a:cs typeface="Source Serif 4"/>
                <a:sym typeface="Source Serif 4"/>
              </a:rPr>
              <a:t>Elevated PM10 Levels in </a:t>
            </a:r>
            <a:r>
              <a:rPr lang="en" sz="1800">
                <a:latin typeface="Source Serif 4"/>
                <a:ea typeface="Source Serif 4"/>
                <a:cs typeface="Source Serif 4"/>
                <a:sym typeface="Source Serif 4"/>
              </a:rPr>
              <a:t>Galena</a:t>
            </a:r>
            <a:r>
              <a:rPr lang="en" sz="1800">
                <a:latin typeface="Source Serif 4"/>
                <a:ea typeface="Source Serif 4"/>
                <a:cs typeface="Source Serif 4"/>
                <a:sym typeface="Source Serif 4"/>
              </a:rPr>
              <a:t> Park Area</a:t>
            </a:r>
            <a:endParaRPr sz="18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type="title"/>
          </p:nvPr>
        </p:nvSpPr>
        <p:spPr>
          <a:xfrm>
            <a:off x="3348150" y="3473725"/>
            <a:ext cx="188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erif 4"/>
                <a:ea typeface="Source Serif 4"/>
                <a:cs typeface="Source Serif 4"/>
                <a:sym typeface="Source Serif 4"/>
              </a:rPr>
              <a:t>Extreme PM10 Events – December 2024</a:t>
            </a:r>
            <a:endParaRPr/>
          </a:p>
        </p:txBody>
      </p:sp>
      <p:sp>
        <p:nvSpPr>
          <p:cNvPr id="63" name="Google Shape;63;p14"/>
          <p:cNvSpPr txBox="1"/>
          <p:nvPr>
            <p:ph type="title"/>
          </p:nvPr>
        </p:nvSpPr>
        <p:spPr>
          <a:xfrm>
            <a:off x="5774525" y="3473725"/>
            <a:ext cx="1881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Source Serif 4"/>
                <a:ea typeface="Source Serif 4"/>
                <a:cs typeface="Source Serif 4"/>
                <a:sym typeface="Source Serif 4"/>
              </a:rPr>
              <a:t>PM1 and PM2.5 Originate from Different Sources Than PM10</a:t>
            </a:r>
            <a:endParaRPr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8150" y="1642275"/>
            <a:ext cx="1881300" cy="1642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86312" y="2262500"/>
            <a:ext cx="1657725" cy="1022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886297" y="1239858"/>
            <a:ext cx="1657750" cy="1022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7" name="Google Shape;67;p14"/>
          <p:cNvGrpSpPr/>
          <p:nvPr/>
        </p:nvGrpSpPr>
        <p:grpSpPr>
          <a:xfrm>
            <a:off x="921765" y="1900342"/>
            <a:ext cx="1928960" cy="1156159"/>
            <a:chOff x="921765" y="1900342"/>
            <a:chExt cx="1928960" cy="1156159"/>
          </a:xfrm>
        </p:grpSpPr>
        <p:grpSp>
          <p:nvGrpSpPr>
            <p:cNvPr id="68" name="Google Shape;68;p14"/>
            <p:cNvGrpSpPr/>
            <p:nvPr/>
          </p:nvGrpSpPr>
          <p:grpSpPr>
            <a:xfrm>
              <a:off x="921765" y="1900342"/>
              <a:ext cx="1881201" cy="1156159"/>
              <a:chOff x="398100" y="1581150"/>
              <a:chExt cx="4033450" cy="2478900"/>
            </a:xfrm>
          </p:grpSpPr>
          <p:pic>
            <p:nvPicPr>
              <p:cNvPr id="69" name="Google Shape;69;p14"/>
              <p:cNvPicPr preferRelativeResize="0"/>
              <p:nvPr/>
            </p:nvPicPr>
            <p:blipFill>
              <a:blip r:embed="rId6">
                <a:alphaModFix/>
              </a:blip>
              <a:stretch>
                <a:fillRect/>
              </a:stretch>
            </p:blipFill>
            <p:spPr>
              <a:xfrm>
                <a:off x="398100" y="1581150"/>
                <a:ext cx="4033450" cy="2478900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0" name="Google Shape;70;p14"/>
              <p:cNvSpPr/>
              <p:nvPr/>
            </p:nvSpPr>
            <p:spPr>
              <a:xfrm>
                <a:off x="3857650" y="2725225"/>
                <a:ext cx="531900" cy="3015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71" name="Google Shape;71;p14"/>
            <p:cNvSpPr txBox="1"/>
            <p:nvPr/>
          </p:nvSpPr>
          <p:spPr>
            <a:xfrm>
              <a:off x="2443025" y="2415450"/>
              <a:ext cx="407700" cy="1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">
                  <a:solidFill>
                    <a:schemeClr val="dk2"/>
                  </a:solidFill>
                </a:rPr>
                <a:t>Clinton Dr</a:t>
              </a:r>
              <a:endParaRPr sz="200">
                <a:solidFill>
                  <a:schemeClr val="dk2"/>
                </a:solidFill>
              </a:endParaRPr>
            </a:p>
          </p:txBody>
        </p:sp>
        <p:sp>
          <p:nvSpPr>
            <p:cNvPr id="72" name="Google Shape;72;p14"/>
            <p:cNvSpPr txBox="1"/>
            <p:nvPr/>
          </p:nvSpPr>
          <p:spPr>
            <a:xfrm>
              <a:off x="2443025" y="2350300"/>
              <a:ext cx="385800" cy="156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00">
                  <a:solidFill>
                    <a:schemeClr val="dk2"/>
                  </a:solidFill>
                </a:rPr>
                <a:t>Eastway St</a:t>
              </a:r>
              <a:endParaRPr sz="2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1290000" y="2150850"/>
            <a:ext cx="65640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Elevated PM10 Levels in </a:t>
            </a: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Galena</a:t>
            </a: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 Park Area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461375" y="0"/>
            <a:ext cx="6780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ource Serif 4"/>
                <a:ea typeface="Source Serif 4"/>
                <a:cs typeface="Source Serif 4"/>
                <a:sym typeface="Source Serif 4"/>
              </a:rPr>
              <a:t>Higher levels of PM10</a:t>
            </a:r>
            <a:endParaRPr b="1" sz="30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83" name="Google Shape;83;p16"/>
          <p:cNvGrpSpPr/>
          <p:nvPr/>
        </p:nvGrpSpPr>
        <p:grpSpPr>
          <a:xfrm>
            <a:off x="4847994" y="1436423"/>
            <a:ext cx="3513135" cy="2159122"/>
            <a:chOff x="398100" y="1581150"/>
            <a:chExt cx="4033450" cy="2478900"/>
          </a:xfrm>
        </p:grpSpPr>
        <p:pic>
          <p:nvPicPr>
            <p:cNvPr id="84" name="Google Shape;84;p1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98100" y="1581150"/>
              <a:ext cx="4033450" cy="2478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6"/>
            <p:cNvSpPr/>
            <p:nvPr/>
          </p:nvSpPr>
          <p:spPr>
            <a:xfrm>
              <a:off x="3857650" y="2725225"/>
              <a:ext cx="531900" cy="3015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6"/>
          <p:cNvSpPr txBox="1"/>
          <p:nvPr/>
        </p:nvSpPr>
        <p:spPr>
          <a:xfrm>
            <a:off x="7747800" y="2461309"/>
            <a:ext cx="1396200" cy="4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Clinton Dr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87" name="Google Shape;87;p16"/>
          <p:cNvSpPr txBox="1"/>
          <p:nvPr/>
        </p:nvSpPr>
        <p:spPr>
          <a:xfrm>
            <a:off x="7747800" y="2329229"/>
            <a:ext cx="732600" cy="2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Eastway St</a:t>
            </a:r>
            <a:endParaRPr sz="800">
              <a:solidFill>
                <a:schemeClr val="dk2"/>
              </a:solidFill>
            </a:endParaRPr>
          </a:p>
        </p:txBody>
      </p:sp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375" y="1247899"/>
            <a:ext cx="3513200" cy="2434851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461375" y="3981175"/>
            <a:ext cx="801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 average, the data shows that PM10 is above WHO guidelines is 2.6x the % of times above PM2.5 guidelines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PM10 is more </a:t>
            </a: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prevalent</a:t>
            </a: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 towards Clinton Drive (SouthEast) area based on the diurnal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61375" y="0"/>
            <a:ext cx="6780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ource Serif 4"/>
                <a:ea typeface="Source Serif 4"/>
                <a:cs typeface="Source Serif 4"/>
                <a:sym typeface="Source Serif 4"/>
              </a:rPr>
              <a:t>PM2.5 Daily Average</a:t>
            </a:r>
            <a:endParaRPr b="1" sz="30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95" name="Google Shape;95;p17"/>
          <p:cNvSpPr txBox="1"/>
          <p:nvPr/>
        </p:nvSpPr>
        <p:spPr>
          <a:xfrm>
            <a:off x="461375" y="1261725"/>
            <a:ext cx="36765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Overall Average: 8.80 µg/m3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Eastway St. : 9.54 µg/m3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Clinton Drive: 8.08 µg/m3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WHO: 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24hr - 15 µg/m3 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Annual - 5 µg/m3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Though this is only 7 months of data, the data is well above the annual guidelines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96" name="Google Shape;96;p17"/>
          <p:cNvPicPr preferRelativeResize="0"/>
          <p:nvPr/>
        </p:nvPicPr>
        <p:blipFill rotWithShape="1">
          <a:blip r:embed="rId3">
            <a:alphaModFix/>
          </a:blip>
          <a:srcRect b="0" l="23391" r="24465" t="0"/>
          <a:stretch/>
        </p:blipFill>
        <p:spPr>
          <a:xfrm>
            <a:off x="4798224" y="0"/>
            <a:ext cx="43457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8"/>
          <p:cNvSpPr txBox="1"/>
          <p:nvPr>
            <p:ph type="title"/>
          </p:nvPr>
        </p:nvSpPr>
        <p:spPr>
          <a:xfrm>
            <a:off x="461375" y="0"/>
            <a:ext cx="6780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ource Serif 4"/>
                <a:ea typeface="Source Serif 4"/>
                <a:cs typeface="Source Serif 4"/>
                <a:sym typeface="Source Serif 4"/>
              </a:rPr>
              <a:t>PM10 Daily Average</a:t>
            </a:r>
            <a:endParaRPr b="1" sz="30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02" name="Google Shape;102;p18"/>
          <p:cNvSpPr txBox="1"/>
          <p:nvPr/>
        </p:nvSpPr>
        <p:spPr>
          <a:xfrm>
            <a:off x="461375" y="1261725"/>
            <a:ext cx="3776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Overall Average: 41.80 µg/m3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Eastway St. : 38.38 µg/m3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Clinton Drive: 45.23 µg/m3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WHO: 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24hr - 45 µg/m3 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Annual - 15 µg/m3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This data is not only significantly above the annual </a:t>
            </a: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guidelines, Clinton Drive has an daily average above the 24hr guideline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PM10 daily average is 2.79 times higher than the annual guideline of 15 units</a:t>
            </a:r>
            <a:endParaRPr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03" name="Google Shape;103;p18"/>
          <p:cNvPicPr preferRelativeResize="0"/>
          <p:nvPr/>
        </p:nvPicPr>
        <p:blipFill rotWithShape="1">
          <a:blip r:embed="rId3">
            <a:alphaModFix/>
          </a:blip>
          <a:srcRect b="0" l="23395" r="24464" t="0"/>
          <a:stretch/>
        </p:blipFill>
        <p:spPr>
          <a:xfrm>
            <a:off x="4798225" y="0"/>
            <a:ext cx="43457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461375" y="0"/>
            <a:ext cx="6780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ource Serif 4"/>
                <a:ea typeface="Source Serif 4"/>
                <a:cs typeface="Source Serif 4"/>
                <a:sym typeface="Source Serif 4"/>
              </a:rPr>
              <a:t>PM10 Diurnals</a:t>
            </a:r>
            <a:endParaRPr b="1" sz="30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461375" y="1261725"/>
            <a:ext cx="3676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Noticeable daily peaks, especially during early morning hour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17815" y="2571900"/>
            <a:ext cx="4526186" cy="25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 rotWithShape="1">
          <a:blip r:embed="rId4">
            <a:alphaModFix/>
          </a:blip>
          <a:srcRect b="0" l="-1070" r="1069" t="0"/>
          <a:stretch/>
        </p:blipFill>
        <p:spPr>
          <a:xfrm>
            <a:off x="4797442" y="0"/>
            <a:ext cx="4166932" cy="25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0"/>
          <p:cNvSpPr txBox="1"/>
          <p:nvPr>
            <p:ph type="title"/>
          </p:nvPr>
        </p:nvSpPr>
        <p:spPr>
          <a:xfrm>
            <a:off x="2045250" y="2150850"/>
            <a:ext cx="50535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PM10 Events in December 2024</a:t>
            </a:r>
            <a:endParaRPr b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461375" y="0"/>
            <a:ext cx="6780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ource Serif 4"/>
                <a:ea typeface="Source Serif 4"/>
                <a:cs typeface="Source Serif 4"/>
                <a:sym typeface="Source Serif 4"/>
              </a:rPr>
              <a:t>PM10 Diurnals</a:t>
            </a:r>
            <a:endParaRPr b="1" sz="30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22" name="Google Shape;122;p21"/>
          <p:cNvSpPr txBox="1"/>
          <p:nvPr/>
        </p:nvSpPr>
        <p:spPr>
          <a:xfrm>
            <a:off x="461375" y="1261725"/>
            <a:ext cx="36765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There were two days that stood out in terms of PM10 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They exceed NAAQS’s limit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150 µg/m3 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98151" y="1059287"/>
            <a:ext cx="3463967" cy="3024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461375" y="0"/>
            <a:ext cx="6780000" cy="75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Source Serif 4"/>
                <a:ea typeface="Source Serif 4"/>
                <a:cs typeface="Source Serif 4"/>
                <a:sym typeface="Source Serif 4"/>
              </a:rPr>
              <a:t>Histogram and Time Series</a:t>
            </a:r>
            <a:endParaRPr b="1" sz="3000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29" name="Google Shape;129;p22"/>
          <p:cNvSpPr txBox="1"/>
          <p:nvPr/>
        </p:nvSpPr>
        <p:spPr>
          <a:xfrm>
            <a:off x="5532100" y="3589100"/>
            <a:ext cx="31443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rgbClr val="59595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Blue line - EPA PM10 Limit</a:t>
            </a:r>
            <a:endParaRPr sz="1100">
              <a:solidFill>
                <a:srgbClr val="59595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997" y="1017725"/>
            <a:ext cx="4169975" cy="25716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22"/>
          <p:cNvPicPr preferRelativeResize="0"/>
          <p:nvPr/>
        </p:nvPicPr>
        <p:blipFill rotWithShape="1">
          <a:blip r:embed="rId4">
            <a:alphaModFix amt="45000"/>
          </a:blip>
          <a:srcRect b="28005" l="0" r="0" t="70640"/>
          <a:stretch/>
        </p:blipFill>
        <p:spPr>
          <a:xfrm>
            <a:off x="4574975" y="2833001"/>
            <a:ext cx="4167000" cy="3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22"/>
          <p:cNvSpPr txBox="1"/>
          <p:nvPr/>
        </p:nvSpPr>
        <p:spPr>
          <a:xfrm>
            <a:off x="461375" y="3496100"/>
            <a:ext cx="47097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595959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In December 2024, we observed distinct PM10 events with levels often exceeding the EPA 24-hour limit of 150 µg/m³. The time series graph clearly shows sharp spikes—most notably on December 17 and 18—where PM10 levels far surpassed this standard. </a:t>
            </a:r>
            <a:endParaRPr>
              <a:solidFill>
                <a:srgbClr val="595959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grpSp>
        <p:nvGrpSpPr>
          <p:cNvPr id="133" name="Google Shape;133;p22"/>
          <p:cNvGrpSpPr/>
          <p:nvPr/>
        </p:nvGrpSpPr>
        <p:grpSpPr>
          <a:xfrm>
            <a:off x="461379" y="1072399"/>
            <a:ext cx="3744394" cy="2292104"/>
            <a:chOff x="311700" y="1072363"/>
            <a:chExt cx="3870175" cy="2369100"/>
          </a:xfrm>
        </p:grpSpPr>
        <p:pic>
          <p:nvPicPr>
            <p:cNvPr id="134" name="Google Shape;134;p2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311700" y="1072363"/>
              <a:ext cx="3838800" cy="2369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22"/>
            <p:cNvSpPr/>
            <p:nvPr/>
          </p:nvSpPr>
          <p:spPr>
            <a:xfrm>
              <a:off x="3579775" y="2002475"/>
              <a:ext cx="602100" cy="6021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2"/>
          <p:cNvSpPr txBox="1"/>
          <p:nvPr/>
        </p:nvSpPr>
        <p:spPr>
          <a:xfrm>
            <a:off x="3564544" y="2158885"/>
            <a:ext cx="1350900" cy="4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Clinton Dr</a:t>
            </a:r>
            <a:endParaRPr sz="800">
              <a:solidFill>
                <a:schemeClr val="dk2"/>
              </a:solidFill>
            </a:endParaRPr>
          </a:p>
        </p:txBody>
      </p:sp>
      <p:sp>
        <p:nvSpPr>
          <p:cNvPr id="137" name="Google Shape;137;p22"/>
          <p:cNvSpPr txBox="1"/>
          <p:nvPr/>
        </p:nvSpPr>
        <p:spPr>
          <a:xfrm>
            <a:off x="3564544" y="2031100"/>
            <a:ext cx="708900" cy="2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2"/>
                </a:solidFill>
              </a:rPr>
              <a:t>Eastway St</a:t>
            </a:r>
            <a:endParaRPr sz="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Source Serif 4 SemiBold"/>
                <a:ea typeface="Source Serif 4 SemiBold"/>
                <a:cs typeface="Source Serif 4 SemiBold"/>
                <a:sym typeface="Source Serif 4 SemiBold"/>
              </a:rPr>
              <a:t>PM1 and PM2.5 Come from Different Sources Compared to PM10</a:t>
            </a:r>
            <a:endParaRPr>
              <a:latin typeface="Source Serif 4 SemiBold"/>
              <a:ea typeface="Source Serif 4 SemiBold"/>
              <a:cs typeface="Source Serif 4 SemiBold"/>
              <a:sym typeface="Source Serif 4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Normalized Diurnals - PM1</a:t>
            </a:r>
            <a:endParaRPr/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345" y="1152475"/>
            <a:ext cx="6469654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Normalized Diurnals - PM2.5</a:t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345" y="1152475"/>
            <a:ext cx="6469654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Normalized Diurnals - PM10</a:t>
            </a:r>
            <a:endParaRPr/>
          </a:p>
        </p:txBody>
      </p:sp>
      <p:sp>
        <p:nvSpPr>
          <p:cNvPr id="160" name="Google Shape;160;p26"/>
          <p:cNvSpPr txBox="1"/>
          <p:nvPr>
            <p:ph idx="1" type="body"/>
          </p:nvPr>
        </p:nvSpPr>
        <p:spPr>
          <a:xfrm>
            <a:off x="311700" y="1152475"/>
            <a:ext cx="2362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Serif 4"/>
              <a:buChar char="-"/>
            </a:pPr>
            <a:r>
              <a:rPr lang="en" sz="1400">
                <a:latin typeface="Source Serif 4"/>
                <a:ea typeface="Source Serif 4"/>
                <a:cs typeface="Source Serif 4"/>
                <a:sym typeface="Source Serif 4"/>
              </a:rPr>
              <a:t>Normalized to show the peaks and valleys</a:t>
            </a:r>
            <a:endParaRPr sz="14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Char char="-"/>
            </a:pPr>
            <a:r>
              <a:rPr lang="en" sz="1400">
                <a:latin typeface="Source Serif 4"/>
                <a:ea typeface="Source Serif 4"/>
                <a:cs typeface="Source Serif 4"/>
                <a:sym typeface="Source Serif 4"/>
              </a:rPr>
              <a:t>PM1 and PM2.5 drop off ∼10am</a:t>
            </a:r>
            <a:endParaRPr sz="14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Char char="-"/>
            </a:pPr>
            <a:r>
              <a:rPr lang="en" sz="1400">
                <a:latin typeface="Source Serif 4"/>
                <a:ea typeface="Source Serif 4"/>
                <a:cs typeface="Source Serif 4"/>
                <a:sym typeface="Source Serif 4"/>
              </a:rPr>
              <a:t>Not all just rush hour</a:t>
            </a:r>
            <a:endParaRPr sz="14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Serif 4"/>
              <a:buChar char="-"/>
            </a:pPr>
            <a:r>
              <a:rPr lang="en" sz="1400">
                <a:latin typeface="Source Serif 4"/>
                <a:ea typeface="Source Serif 4"/>
                <a:cs typeface="Source Serif 4"/>
                <a:sym typeface="Source Serif 4"/>
              </a:rPr>
              <a:t>PM10 doesn’t drop off till late at night</a:t>
            </a:r>
            <a:endParaRPr sz="1400"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1" name="Google Shape;16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4345" y="1152475"/>
            <a:ext cx="6469654" cy="3991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PM 1 &amp; PM 2.5 are coming from different sources</a:t>
            </a:r>
            <a:endParaRPr b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sp>
        <p:nvSpPr>
          <p:cNvPr id="167" name="Google Shape;16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Source Serif 4"/>
              <a:buChar char="-"/>
            </a:pPr>
            <a:r>
              <a:rPr lang="en">
                <a:latin typeface="Source Serif 4"/>
                <a:ea typeface="Source Serif 4"/>
                <a:cs typeface="Source Serif 4"/>
                <a:sym typeface="Source Serif 4"/>
              </a:rPr>
              <a:t>PM 10 tends to come only from the south east, while PM 1 &amp; PM 2.5 come from different places</a:t>
            </a:r>
            <a:endParaRPr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68" name="Google Shape;168;p27"/>
          <p:cNvPicPr preferRelativeResize="0"/>
          <p:nvPr/>
        </p:nvPicPr>
        <p:blipFill rotWithShape="1">
          <a:blip r:embed="rId3">
            <a:alphaModFix/>
          </a:blip>
          <a:srcRect b="255" l="0" r="0" t="1299"/>
          <a:stretch/>
        </p:blipFill>
        <p:spPr>
          <a:xfrm>
            <a:off x="4755175" y="2212475"/>
            <a:ext cx="3169924" cy="19235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7"/>
          <p:cNvPicPr preferRelativeResize="0"/>
          <p:nvPr/>
        </p:nvPicPr>
        <p:blipFill rotWithShape="1">
          <a:blip r:embed="rId4">
            <a:alphaModFix/>
          </a:blip>
          <a:srcRect b="-150" l="0" r="0" t="150"/>
          <a:stretch/>
        </p:blipFill>
        <p:spPr>
          <a:xfrm>
            <a:off x="1286651" y="2197549"/>
            <a:ext cx="3169924" cy="1953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27"/>
          <p:cNvSpPr txBox="1"/>
          <p:nvPr/>
        </p:nvSpPr>
        <p:spPr>
          <a:xfrm>
            <a:off x="2137661" y="4166600"/>
            <a:ext cx="1077900" cy="2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PM 2.5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6075775" y="4200950"/>
            <a:ext cx="126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PM 10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72" name="Google Shape;172;p27"/>
          <p:cNvSpPr txBox="1"/>
          <p:nvPr/>
        </p:nvSpPr>
        <p:spPr>
          <a:xfrm>
            <a:off x="4257525" y="4200950"/>
            <a:ext cx="1261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VS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ource Serif 4"/>
                <a:ea typeface="Source Serif 4"/>
                <a:cs typeface="Source Serif 4"/>
                <a:sym typeface="Source Serif 4"/>
              </a:rPr>
              <a:t>Direction for Website?</a:t>
            </a:r>
            <a:endParaRPr b="1"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  <p:pic>
        <p:nvPicPr>
          <p:cNvPr id="178" name="Google Shape;17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3900" y="1032475"/>
            <a:ext cx="3161623" cy="188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8"/>
          <p:cNvSpPr txBox="1"/>
          <p:nvPr/>
        </p:nvSpPr>
        <p:spPr>
          <a:xfrm>
            <a:off x="311700" y="1169375"/>
            <a:ext cx="45759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What is the main purpose of the website?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Who is the target audience?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Serif 4"/>
              <a:buChar char="-"/>
            </a:pPr>
            <a:r>
              <a:rPr lang="en" sz="1800">
                <a:solidFill>
                  <a:schemeClr val="dk2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Maintain or switch platforms?</a:t>
            </a:r>
            <a:endParaRPr sz="1800">
              <a:solidFill>
                <a:schemeClr val="dk2"/>
              </a:solidFill>
              <a:latin typeface="Source Serif 4"/>
              <a:ea typeface="Source Serif 4"/>
              <a:cs typeface="Source Serif 4"/>
              <a:sym typeface="Source Serif 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