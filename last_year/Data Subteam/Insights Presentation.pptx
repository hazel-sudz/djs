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E1DE0D-2BC9-4BEB-A8BE-F0DEA50801BA}">
  <a:tblStyle styleId="{A1E1DE0D-2BC9-4BEB-A8BE-F0DEA50801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c708707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c708707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c708707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c708707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40ee26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40ee26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7/31 - 145.1641 not above but close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Maybe add </a:t>
            </a:r>
            <a:r>
              <a:rPr b="1" lang="en"/>
              <a:t>directionality</a:t>
            </a:r>
            <a:r>
              <a:rPr b="1" lang="en"/>
              <a:t> from these dates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</a:rPr>
              <a:t>“EPA is retaining the existing primary 24-hour standard for coarse particles at 150 µg/m3.  An area meets the 24-hour PM10 standard if it does not exceed the 150 µg/m3 level more than once per year on average over a three-year period.”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cca508d8d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cca508d8d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c708707f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c708707f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7/31 - 145.1641 not above but close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cca508d8d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cca508d8d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c708707f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c708707f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cbe89909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cbe8990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c708707f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c708707f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Starter with time series - first pass at analysis - diurnal profile; be explicit what it answers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 plot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c708707f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c708707f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c708707f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c708707f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c708707f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c708707f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c708707f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c708707f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c708707f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c708707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c708707f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c708707f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c708707f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c708707f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c708707f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c708707f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cbe89909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cbe89909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Insights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Generally elevated PM10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PM10 Events in December 2024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PM1 and PM2.5 come from different sources compared to PM10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Generally elevated PM10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50" y="3745412"/>
            <a:ext cx="8397900" cy="7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75" y="1126625"/>
            <a:ext cx="3628601" cy="206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PM10 Events in December 2024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532100" y="3589100"/>
            <a:ext cx="3144300" cy="1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Blue line - EPA PM 10 Limit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Red line - Average levels without 12/16-12/18 Dat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7" y="1093925"/>
            <a:ext cx="4169975" cy="257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 amt="45000"/>
          </a:blip>
          <a:srcRect b="26476" l="0" r="0" t="69934"/>
          <a:stretch/>
        </p:blipFill>
        <p:spPr>
          <a:xfrm>
            <a:off x="4574975" y="2891055"/>
            <a:ext cx="4167000" cy="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00" y="1403525"/>
            <a:ext cx="2916657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223850" y="2221300"/>
            <a:ext cx="173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7/31*    12/17  12/18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79" name="Google Shape;79;p16"/>
          <p:cNvCxnSpPr/>
          <p:nvPr/>
        </p:nvCxnSpPr>
        <p:spPr>
          <a:xfrm flipH="1">
            <a:off x="2912900" y="2518525"/>
            <a:ext cx="209400" cy="3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6"/>
          <p:cNvCxnSpPr/>
          <p:nvPr/>
        </p:nvCxnSpPr>
        <p:spPr>
          <a:xfrm flipH="1">
            <a:off x="3250425" y="2525300"/>
            <a:ext cx="2637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6"/>
          <p:cNvSpPr txBox="1"/>
          <p:nvPr/>
        </p:nvSpPr>
        <p:spPr>
          <a:xfrm>
            <a:off x="104125" y="3496100"/>
            <a:ext cx="4709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 December 2024, we observed distinct PM10 events with levels often exceeding the EPA 24-hour limit of 150 µg/m³. The time series graph clearly shows sharp spikes—most notably on December 17 and 18—where PM10 levels far surpassed this standard.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 1 &amp; PM 2.5 are coming from </a:t>
            </a:r>
            <a:r>
              <a:rPr lang="en"/>
              <a:t>different</a:t>
            </a:r>
            <a:r>
              <a:rPr lang="en"/>
              <a:t> sources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PM 10 tends to come only from the south east, while PM 1 &amp; PM 2.5 come from </a:t>
            </a:r>
            <a:r>
              <a:rPr lang="en"/>
              <a:t>different</a:t>
            </a:r>
            <a:r>
              <a:rPr lang="en"/>
              <a:t> places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255" l="0" r="0" t="1299"/>
          <a:stretch/>
        </p:blipFill>
        <p:spPr>
          <a:xfrm>
            <a:off x="4755175" y="2212475"/>
            <a:ext cx="3169924" cy="192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b="-150" l="0" r="0" t="150"/>
          <a:stretch/>
        </p:blipFill>
        <p:spPr>
          <a:xfrm>
            <a:off x="1286651" y="2197549"/>
            <a:ext cx="3169924" cy="19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2137661" y="4166600"/>
            <a:ext cx="1077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PM 2.5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075775" y="4200950"/>
            <a:ext cx="126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PM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257525" y="4200950"/>
            <a:ext cx="126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V.S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PM10 Events in December 2024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611300"/>
            <a:ext cx="4167000" cy="1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Blue line - EPA PM 10 Limit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Red line - Average levels without 12/16-12/18 Dat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“EPA is retaining the existing primary 24-hour standard for coarse particles at 150 µg/m3.  An area meets the 24-hour PM10 standard if it does not exceed the 150 µg/m3 level more than once per year on average over a three-year period.”</a:t>
            </a:r>
            <a:endParaRPr sz="14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027" y="2571900"/>
            <a:ext cx="4169970" cy="2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 amt="45000"/>
          </a:blip>
          <a:srcRect b="26894" l="0" r="0" t="61809"/>
          <a:stretch/>
        </p:blipFill>
        <p:spPr>
          <a:xfrm>
            <a:off x="4974025" y="4161275"/>
            <a:ext cx="4169975" cy="29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4022" y="0"/>
            <a:ext cx="4169975" cy="257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6">
            <a:alphaModFix amt="45000"/>
          </a:blip>
          <a:srcRect b="26475" l="0" r="0" t="65982"/>
          <a:stretch/>
        </p:blipFill>
        <p:spPr>
          <a:xfrm>
            <a:off x="4977000" y="1695572"/>
            <a:ext cx="4167000" cy="19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3343500"/>
            <a:ext cx="2916657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1715850" y="4161275"/>
            <a:ext cx="173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7/31*    12/17  12/18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 flipH="1">
            <a:off x="2404900" y="4458500"/>
            <a:ext cx="209400" cy="3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8"/>
          <p:cNvCxnSpPr/>
          <p:nvPr/>
        </p:nvCxnSpPr>
        <p:spPr>
          <a:xfrm flipH="1">
            <a:off x="2742425" y="4465275"/>
            <a:ext cx="2637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PM 10 stays high, despite PM 2.5 dropping off </a:t>
            </a:r>
            <a:r>
              <a:rPr lang="en"/>
              <a:t>significantly</a:t>
            </a:r>
            <a:r>
              <a:rPr lang="en"/>
              <a:t> after 12:00pm</a:t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536" y="1952475"/>
            <a:ext cx="3628764" cy="22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00" y="2049975"/>
            <a:ext cx="3142451" cy="1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0" y="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Polar Plots 12/16-12/18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23952"/>
            <a:ext cx="4572001" cy="281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48" y="0"/>
            <a:ext cx="4572052" cy="28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0" cy="281968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3519600" y="135200"/>
            <a:ext cx="105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PM 2.5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572000" y="3681200"/>
            <a:ext cx="105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PM 10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21124"/>
            <a:ext cx="4572000" cy="28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>
            <p:ph idx="4294967295" type="title"/>
          </p:nvPr>
        </p:nvSpPr>
        <p:spPr>
          <a:xfrm>
            <a:off x="0" y="0"/>
            <a:ext cx="2808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annulusMap 12/16 - 12/18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0" y="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Polar Plots 12/16-12/18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23950"/>
            <a:ext cx="4572007" cy="28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4572001" cy="2819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Generally elevated PM10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Diurnal</a:t>
            </a:r>
            <a:r>
              <a:rPr lang="en"/>
              <a:t> by </a:t>
            </a:r>
            <a:r>
              <a:rPr lang="en"/>
              <a:t>seasons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DoW hour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Boxplot?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Location on a the map of each sensor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Table w sensor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graphicFrame>
        <p:nvGraphicFramePr>
          <p:cNvPr id="144" name="Google Shape;144;p23"/>
          <p:cNvGraphicFramePr/>
          <p:nvPr/>
        </p:nvGraphicFramePr>
        <p:xfrm>
          <a:off x="881625" y="349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{A1E1DE0D-2BC9-4BEB-A8BE-F0DEA50801BA}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50" y="2133262"/>
            <a:ext cx="8397900" cy="7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605" y="0"/>
            <a:ext cx="4081396" cy="25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626" y="2624700"/>
            <a:ext cx="4081374" cy="25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4428" y="-12975"/>
            <a:ext cx="4168947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1974" y="2638730"/>
            <a:ext cx="4081400" cy="251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/>
        </p:nvSpPr>
        <p:spPr>
          <a:xfrm>
            <a:off x="317350" y="491750"/>
            <a:ext cx="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1395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171150" y="3483900"/>
            <a:ext cx="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1396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824" y="0"/>
            <a:ext cx="4169177" cy="257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8583" y="-84975"/>
            <a:ext cx="4169182" cy="257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4817" y="2571750"/>
            <a:ext cx="4169182" cy="257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53600" y="2428800"/>
            <a:ext cx="4169175" cy="257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PM1 and PM2.5 come from different sources compared to PM10</a:t>
            </a:r>
            <a:endParaRPr sz="2220"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Magnitude (mean +- SD)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Sources?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Found through annulus plots of each pm level for each sensor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Diurnals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Normalize the values and see if the trend reach peaks and min at the same times;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Also do it for each sensor to see if they are </a:t>
            </a:r>
            <a:r>
              <a:rPr lang="en"/>
              <a:t>applicable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22" y="0"/>
            <a:ext cx="83378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16" y="2"/>
            <a:ext cx="833788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16" y="2"/>
            <a:ext cx="833788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514350"/>
            <a:ext cx="66675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